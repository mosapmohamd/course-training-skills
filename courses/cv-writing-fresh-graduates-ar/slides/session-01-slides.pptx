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فتتاح" id="{54a85b7c-4c7c-03d1-a608-9c3ac1286715}">
          <p14:sldIdLst>
            <p14:sldId id="256"/>
            <p14:sldId id="257"/>
            <p14:sldId id="258"/>
            <p14:sldId id="259"/>
          </p14:sldIdLst>
        </p14:section>
        <p14:section name="إزاي الـ CV بيتقري" id="{ee56a8d8-bca4-0ad2-fb15-34fc327517bb}">
          <p14:sldIdLst>
            <p14:sldId id="260"/>
            <p14:sldId id="261"/>
            <p14:sldId id="262"/>
          </p14:sldIdLst>
        </p14:section>
        <p14:section name="الأقسام" id="{fa3a9f42-d9e2-2484-5dab-ab19ffb20adb}">
          <p14:sldIdLst>
            <p14:sldId id="263"/>
            <p14:sldId id="264"/>
            <p14:sldId id="265"/>
            <p14:sldId id="266"/>
          </p14:sldIdLst>
        </p14:section>
        <p14:section name="الإنجازات والـ ATS" id="{a8e7b2e4-a4fd-7145-269c-95c93b3871d8}">
          <p14:sldIdLst>
            <p14:sldId id="267"/>
            <p14:sldId id="268"/>
            <p14:sldId id="269"/>
            <p14:sldId id="270"/>
          </p14:sldIdLst>
        </p14:section>
        <p14:section name="التطبيق" id="{8fd9807f-fac8-d35b-a1a8-cdac9f0d42f9}">
          <p14:sldIdLst>
            <p14:sldId id="271"/>
            <p14:sldId id="272"/>
            <p14:sldId id="273"/>
            <p14:sldId id="274"/>
          </p14:sldIdLst>
        </p14:section>
        <p14:section name="ختام" id="{407f64ed-9f14-6657-3cd5-5882b648fa7f}">
          <p14:sldIdLst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ترحيب، ومن غير محتوى لسه.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احكي في دقيقة: خلفيتك، وكام CV راجعت، وليه الموضوع ده مهم.
القيم اللي بين أقواس بتيجي من config/instructor-profile.md.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وضّح إن نص الوقت تقريبًا تطبيق على الـ CV بتاعهم.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هنرجع للأربعة دول في الملخص.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محدش يكتب وهو بيبص؛ الكتابة بعد ما الشاشة تتقفل.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اعرضها 6 ثواني بالظبط وبعدين انتقل لسلايد فاضية أو اقفل البروجيكتور.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نفس الـ 6 ثواني، وبعدين مقارنة: «فاكرين إيه المرة دي؟»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التعليم قبل الخبرة لأنه أقوى حاجة عند حديث التخرج؛ يتعكس بعد أول وظيفة.
اسأل: «إمتى الترتيب ده يتغير؟»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الكروت متقلبة على الترابيزة من الأول عشان ما يضيعش وقت.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الـ CV لازم يعدّي على الاتنين: النظام الأول وبعدين الإنسان.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اكتب أسباب الرفض على السبورة وسيبها لبلوك الإنجازات.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اكتبها كمان على السبورة وسيبها طول المحاضرة.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وضّح الفعل والنتيجة في كل مثال؛ الأمثلة خيالية.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«مفيش رقم؟ عدّ الناس، أو المدة، أو الحجم.»
وقفة للنشاط.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الرسالة: البساطة بتكسب.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اطلب من اللي جاي من غير CV يكتب قايمة تعليمه ومشاريعه في البريك.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لف على الترابيزات؛ الأولوية للي واقف قدام ورقة فاضية. التلميحات في exercises/session-01-exercise.md.
وقفة للتطبيق.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النقط 3 و5 و8 هي الأهم؛ اللي ناقصه واحدة منهم يعدّل قبل ما يمشي.
وقفة للتقييم.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الأسئلة في assessments/session-01-assessment.md (ورقة، مش على الشاشة).
اجمعها واقراها بسرعة لتعرف أي هدف محتاج تقوية لو الورشة هتتكرر.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اربط كل نقطة بالهدف بتاعها من سلايد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2–3 أسئلة، والأسئلة الشخصية عن CV معين بعد الورشة.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شجّعهم يبعتوا طلب تواصل النهارده.
وسائل التواصل من config/instructor-profile.md.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شكرهم، وفكّرهم بالواجب.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EG" altLang="en-US" sz="3000" b="1" dirty="0">
                <a:solidFill>
                  <a:schemeClr val="tx1"/>
                </a:solidFill>
              </a:defRPr>
            </a:lvl1pPr>
          </a:lstStyle>
          <a:p>
            <a:pPr rtl="1" algn="r" indent="0" marL="0">
              <a:buNone/>
            </a:pPr>
            <a:endParaRPr lang="ar-EG" sz="3000" dirty="0"/>
          </a:p>
        </p:txBody>
      </p:sp>
      <p:sp>
        <p:nvSpPr>
          <p:cNvPr id="3" name="Text 0"/>
          <p:cNvSpPr/>
          <p:nvPr/>
        </p:nvSpPr>
        <p:spPr>
          <a:xfrm>
            <a:off x="402336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dirty="0">
                <a:solidFill>
                  <a:schemeClr val="accent6"/>
                </a:solidFill>
              </a:rPr>
              <a:t>الـ CV اللي بيعدّي أول 6 ثواني · محاضرة 1</a:t>
            </a:r>
            <a:endParaRPr lang="ar-EG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5F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2"/>
                </a:solidFill>
              </a:rPr>
              <a:t>محاضرة 1 من 1 · حضوري · 180 دقيقة</a:t>
            </a:r>
            <a:endParaRPr lang="ar-EG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4400" b="1" dirty="0">
                <a:solidFill>
                  <a:schemeClr val="bg1"/>
                </a:solidFill>
                <a:latin typeface="Cairo" pitchFamily="34" charset="0"/>
                <a:ea typeface="Cairo" pitchFamily="34" charset="-122"/>
                <a:cs typeface="Cairo" pitchFamily="34" charset="-120"/>
              </a:rPr>
              <a:t>الـ CV اللي بيعدّي أول 6 ثواني</a:t>
            </a:r>
            <a:endParaRPr lang="ar-EG" sz="44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2514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accent3"/>
                </a:solidFill>
              </a:rPr>
              <a:t>كتابة السيرة الذاتية الاحترافية لحديثي التخرج</a:t>
            </a:r>
            <a:endParaRPr lang="ar-EG" sz="2000" dirty="0"/>
          </a:p>
        </p:txBody>
      </p:sp>
      <p:sp>
        <p:nvSpPr>
          <p:cNvPr id="5" name="Instructor"/>
          <p:cNvSpPr txBox="1"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accent3"/>
                </a:solidFill>
              </a:rPr>
              <a:t>[اسم المدرب]  ·  [التاريخ]</a:t>
            </a:r>
            <a:endParaRPr lang="ar-EG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مين بيدرّس</a:t>
            </a:r>
            <a:endParaRPr lang="ar-EG" sz="3000" dirty="0"/>
          </a:p>
        </p:txBody>
      </p:sp>
      <p:sp>
        <p:nvSpPr>
          <p:cNvPr id="3" name="Intro card 1"/>
          <p:cNvSpPr/>
          <p:nvPr/>
        </p:nvSpPr>
        <p:spPr>
          <a:xfrm>
            <a:off x="548640" y="1188720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pic>
        <p:nvPicPr>
          <p:cNvPr id="4" name="Intro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17320"/>
            <a:ext cx="457200" cy="457200"/>
          </a:xfrm>
          <a:prstGeom prst="rect">
            <a:avLst/>
          </a:prstGeom>
        </p:spPr>
      </p:pic>
      <p:sp>
        <p:nvSpPr>
          <p:cNvPr id="5" name="Intro text 1"/>
          <p:cNvSpPr txBox="1"/>
          <p:nvPr/>
        </p:nvSpPr>
        <p:spPr>
          <a:xfrm>
            <a:off x="822960" y="1280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800" b="1" dirty="0">
                <a:solidFill>
                  <a:schemeClr val="bg1"/>
                </a:solidFill>
              </a:rPr>
              <a:t>[اسم المدرب]</a:t>
            </a:r>
            <a:endParaRPr lang="ar-EG" sz="2800" dirty="0"/>
          </a:p>
        </p:txBody>
      </p:sp>
      <p:sp>
        <p:nvSpPr>
          <p:cNvPr id="6" name="Intro card 2"/>
          <p:cNvSpPr/>
          <p:nvPr/>
        </p:nvSpPr>
        <p:spPr>
          <a:xfrm>
            <a:off x="548640" y="2267712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pic>
        <p:nvPicPr>
          <p:cNvPr id="7" name="Intro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96312"/>
            <a:ext cx="457200" cy="457200"/>
          </a:xfrm>
          <a:prstGeom prst="rect">
            <a:avLst/>
          </a:prstGeom>
        </p:spPr>
      </p:pic>
      <p:sp>
        <p:nvSpPr>
          <p:cNvPr id="8" name="Intro text 2"/>
          <p:cNvSpPr txBox="1"/>
          <p:nvPr/>
        </p:nvSpPr>
        <p:spPr>
          <a:xfrm>
            <a:off x="822960" y="235915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800" b="1" dirty="0">
                <a:solidFill>
                  <a:schemeClr val="tx1"/>
                </a:solidFill>
              </a:rPr>
              <a:t>[المسمى المهني]</a:t>
            </a:r>
            <a:endParaRPr lang="ar-EG" sz="2800" dirty="0"/>
          </a:p>
        </p:txBody>
      </p:sp>
      <p:sp>
        <p:nvSpPr>
          <p:cNvPr id="9" name="Intro card 3"/>
          <p:cNvSpPr/>
          <p:nvPr/>
        </p:nvSpPr>
        <p:spPr>
          <a:xfrm>
            <a:off x="548640" y="3346704"/>
            <a:ext cx="8046720" cy="914400"/>
          </a:xfrm>
          <a:prstGeom prst="roundRect">
            <a:avLst>
              <a:gd name="adj" fmla="val 12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pic>
        <p:nvPicPr>
          <p:cNvPr id="10" name="Intro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575304"/>
            <a:ext cx="457200" cy="457200"/>
          </a:xfrm>
          <a:prstGeom prst="rect">
            <a:avLst/>
          </a:prstGeom>
        </p:spPr>
      </p:pic>
      <p:sp>
        <p:nvSpPr>
          <p:cNvPr id="11" name="Intro text 3"/>
          <p:cNvSpPr txBox="1"/>
          <p:nvPr/>
        </p:nvSpPr>
        <p:spPr>
          <a:xfrm>
            <a:off x="822960" y="3438144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800" b="1" dirty="0">
                <a:solidFill>
                  <a:schemeClr val="tx1"/>
                </a:solidFill>
              </a:rPr>
              <a:t>[مسمى المدرب]</a:t>
            </a:r>
            <a:endParaRPr lang="ar-EG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الـ 180 دقيقة بتوع النهارده</a:t>
            </a:r>
            <a:endParaRPr lang="ar-EG" sz="3000" dirty="0"/>
          </a:p>
        </p:txBody>
      </p:sp>
      <p:sp>
        <p:nvSpPr>
          <p:cNvPr id="3" name="Agenda block 1"/>
          <p:cNvSpPr/>
          <p:nvPr/>
        </p:nvSpPr>
        <p:spPr>
          <a:xfrm>
            <a:off x="7818120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Agenda min 1"/>
          <p:cNvSpPr txBox="1"/>
          <p:nvPr/>
        </p:nvSpPr>
        <p:spPr>
          <a:xfrm>
            <a:off x="7818120" y="1600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15</a:t>
            </a:r>
            <a:endParaRPr lang="en-US" sz="2400" dirty="0"/>
          </a:p>
        </p:txBody>
      </p:sp>
      <p:sp>
        <p:nvSpPr>
          <p:cNvPr id="5" name="Agenda unit 1"/>
          <p:cNvSpPr txBox="1"/>
          <p:nvPr/>
        </p:nvSpPr>
        <p:spPr>
          <a:xfrm>
            <a:off x="7818120" y="2084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6" name="Agenda label 1"/>
          <p:cNvSpPr txBox="1"/>
          <p:nvPr/>
        </p:nvSpPr>
        <p:spPr>
          <a:xfrm>
            <a:off x="7781544" y="315468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اختبار الـ 6 ثواني</a:t>
            </a:r>
            <a:endParaRPr lang="ar-EG" sz="1100" dirty="0"/>
          </a:p>
        </p:txBody>
      </p:sp>
      <p:sp>
        <p:nvSpPr>
          <p:cNvPr id="7" name="Agenda block 2"/>
          <p:cNvSpPr/>
          <p:nvPr/>
        </p:nvSpPr>
        <p:spPr>
          <a:xfrm>
            <a:off x="6773319" y="1463040"/>
            <a:ext cx="989937" cy="1554480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Agenda min 2"/>
          <p:cNvSpPr txBox="1"/>
          <p:nvPr/>
        </p:nvSpPr>
        <p:spPr>
          <a:xfrm>
            <a:off x="6773319" y="1600200"/>
            <a:ext cx="9899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25</a:t>
            </a:r>
            <a:endParaRPr lang="en-US" sz="2400" dirty="0"/>
          </a:p>
        </p:txBody>
      </p:sp>
      <p:sp>
        <p:nvSpPr>
          <p:cNvPr id="9" name="Agenda unit 2"/>
          <p:cNvSpPr txBox="1"/>
          <p:nvPr/>
        </p:nvSpPr>
        <p:spPr>
          <a:xfrm>
            <a:off x="6773319" y="2084832"/>
            <a:ext cx="989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10" name="Agenda label 2"/>
          <p:cNvSpPr txBox="1"/>
          <p:nvPr/>
        </p:nvSpPr>
        <p:spPr>
          <a:xfrm>
            <a:off x="6736743" y="3154680"/>
            <a:ext cx="10630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الأقسام</a:t>
            </a:r>
            <a:endParaRPr lang="ar-EG" sz="1100" dirty="0"/>
          </a:p>
        </p:txBody>
      </p:sp>
      <p:sp>
        <p:nvSpPr>
          <p:cNvPr id="11" name="Agenda block 3"/>
          <p:cNvSpPr/>
          <p:nvPr/>
        </p:nvSpPr>
        <p:spPr>
          <a:xfrm>
            <a:off x="5926505" y="1463040"/>
            <a:ext cx="791950" cy="1554480"/>
          </a:xfrm>
          <a:prstGeom prst="roundRect">
            <a:avLst>
              <a:gd name="adj" fmla="val 1385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2" name="Agenda min 3"/>
          <p:cNvSpPr txBox="1"/>
          <p:nvPr/>
        </p:nvSpPr>
        <p:spPr>
          <a:xfrm>
            <a:off x="5926505" y="1600200"/>
            <a:ext cx="79195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20</a:t>
            </a:r>
            <a:endParaRPr lang="en-US" sz="2400" dirty="0"/>
          </a:p>
        </p:txBody>
      </p:sp>
      <p:sp>
        <p:nvSpPr>
          <p:cNvPr id="13" name="Agenda unit 3"/>
          <p:cNvSpPr txBox="1"/>
          <p:nvPr/>
        </p:nvSpPr>
        <p:spPr>
          <a:xfrm>
            <a:off x="5926505" y="2084832"/>
            <a:ext cx="7919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14" name="Agenda label 3"/>
          <p:cNvSpPr txBox="1"/>
          <p:nvPr/>
        </p:nvSpPr>
        <p:spPr>
          <a:xfrm>
            <a:off x="5889929" y="3154680"/>
            <a:ext cx="86510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إنت الـ Recruiter</a:t>
            </a:r>
            <a:endParaRPr lang="ar-EG" sz="1100" dirty="0"/>
          </a:p>
        </p:txBody>
      </p:sp>
      <p:sp>
        <p:nvSpPr>
          <p:cNvPr id="15" name="Agenda block 4"/>
          <p:cNvSpPr/>
          <p:nvPr/>
        </p:nvSpPr>
        <p:spPr>
          <a:xfrm>
            <a:off x="4881703" y="1463040"/>
            <a:ext cx="989937" cy="1554480"/>
          </a:xfrm>
          <a:prstGeom prst="roundRect">
            <a:avLst>
              <a:gd name="adj" fmla="val 1108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Agenda min 4"/>
          <p:cNvSpPr txBox="1"/>
          <p:nvPr/>
        </p:nvSpPr>
        <p:spPr>
          <a:xfrm>
            <a:off x="4881703" y="1600200"/>
            <a:ext cx="98993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25</a:t>
            </a:r>
            <a:endParaRPr lang="en-US" sz="2400" dirty="0"/>
          </a:p>
        </p:txBody>
      </p:sp>
      <p:sp>
        <p:nvSpPr>
          <p:cNvPr id="17" name="Agenda unit 4"/>
          <p:cNvSpPr txBox="1"/>
          <p:nvPr/>
        </p:nvSpPr>
        <p:spPr>
          <a:xfrm>
            <a:off x="4881703" y="2084832"/>
            <a:ext cx="989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18" name="Agenda label 4"/>
          <p:cNvSpPr txBox="1"/>
          <p:nvPr/>
        </p:nvSpPr>
        <p:spPr>
          <a:xfrm>
            <a:off x="4845127" y="3154680"/>
            <a:ext cx="10630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الإنجازات والـ ATS</a:t>
            </a:r>
            <a:endParaRPr lang="ar-EG" sz="1100" dirty="0"/>
          </a:p>
        </p:txBody>
      </p:sp>
      <p:sp>
        <p:nvSpPr>
          <p:cNvPr id="19" name="Agenda block 5"/>
          <p:cNvSpPr/>
          <p:nvPr/>
        </p:nvSpPr>
        <p:spPr>
          <a:xfrm>
            <a:off x="4049599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20" name="Agenda min 5"/>
          <p:cNvSpPr txBox="1"/>
          <p:nvPr/>
        </p:nvSpPr>
        <p:spPr>
          <a:xfrm>
            <a:off x="4049599" y="1600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15</a:t>
            </a:r>
            <a:endParaRPr lang="en-US" sz="2400" dirty="0"/>
          </a:p>
        </p:txBody>
      </p:sp>
      <p:sp>
        <p:nvSpPr>
          <p:cNvPr id="21" name="Agenda unit 5"/>
          <p:cNvSpPr txBox="1"/>
          <p:nvPr/>
        </p:nvSpPr>
        <p:spPr>
          <a:xfrm>
            <a:off x="4049599" y="2084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22" name="Agenda label 5"/>
          <p:cNvSpPr txBox="1"/>
          <p:nvPr/>
        </p:nvSpPr>
        <p:spPr>
          <a:xfrm>
            <a:off x="4013023" y="315468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بريك</a:t>
            </a:r>
            <a:endParaRPr lang="ar-EG" sz="1100" dirty="0"/>
          </a:p>
        </p:txBody>
      </p:sp>
      <p:sp>
        <p:nvSpPr>
          <p:cNvPr id="23" name="Agenda block 6"/>
          <p:cNvSpPr/>
          <p:nvPr/>
        </p:nvSpPr>
        <p:spPr>
          <a:xfrm>
            <a:off x="2212848" y="1463040"/>
            <a:ext cx="1781887" cy="1554480"/>
          </a:xfrm>
          <a:prstGeom prst="roundRect">
            <a:avLst>
              <a:gd name="adj" fmla="val 7059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4" name="Agenda min 6"/>
          <p:cNvSpPr txBox="1"/>
          <p:nvPr/>
        </p:nvSpPr>
        <p:spPr>
          <a:xfrm>
            <a:off x="2212848" y="1600200"/>
            <a:ext cx="17818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45</a:t>
            </a:r>
            <a:endParaRPr lang="en-US" sz="2400" dirty="0"/>
          </a:p>
        </p:txBody>
      </p:sp>
      <p:sp>
        <p:nvSpPr>
          <p:cNvPr id="25" name="Agenda unit 6"/>
          <p:cNvSpPr txBox="1"/>
          <p:nvPr/>
        </p:nvSpPr>
        <p:spPr>
          <a:xfrm>
            <a:off x="2212848" y="2084832"/>
            <a:ext cx="17818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bg1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26" name="Agenda label 6"/>
          <p:cNvSpPr txBox="1"/>
          <p:nvPr/>
        </p:nvSpPr>
        <p:spPr>
          <a:xfrm>
            <a:off x="2176272" y="3154680"/>
            <a:ext cx="18550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b="1" dirty="0">
                <a:solidFill>
                  <a:schemeClr val="tx1"/>
                </a:solidFill>
              </a:rPr>
              <a:t>أعد كتابة الـ CV بتاعك</a:t>
            </a:r>
            <a:endParaRPr lang="ar-EG" sz="1100" dirty="0"/>
          </a:p>
        </p:txBody>
      </p:sp>
      <p:sp>
        <p:nvSpPr>
          <p:cNvPr id="27" name="Agenda block 7"/>
          <p:cNvSpPr/>
          <p:nvPr/>
        </p:nvSpPr>
        <p:spPr>
          <a:xfrm>
            <a:off x="1380744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8" name="Agenda min 7"/>
          <p:cNvSpPr txBox="1"/>
          <p:nvPr/>
        </p:nvSpPr>
        <p:spPr>
          <a:xfrm>
            <a:off x="1380744" y="1600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15</a:t>
            </a:r>
            <a:endParaRPr lang="en-US" sz="2400" dirty="0"/>
          </a:p>
        </p:txBody>
      </p:sp>
      <p:sp>
        <p:nvSpPr>
          <p:cNvPr id="29" name="Agenda unit 7"/>
          <p:cNvSpPr txBox="1"/>
          <p:nvPr/>
        </p:nvSpPr>
        <p:spPr>
          <a:xfrm>
            <a:off x="1380744" y="2084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30" name="Agenda label 7"/>
          <p:cNvSpPr txBox="1"/>
          <p:nvPr/>
        </p:nvSpPr>
        <p:spPr>
          <a:xfrm>
            <a:off x="1344168" y="315468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مراجعة وتقييم</a:t>
            </a:r>
            <a:endParaRPr lang="ar-EG" sz="1100" dirty="0"/>
          </a:p>
        </p:txBody>
      </p:sp>
      <p:sp>
        <p:nvSpPr>
          <p:cNvPr id="31" name="Agenda block 8"/>
          <p:cNvSpPr/>
          <p:nvPr/>
        </p:nvSpPr>
        <p:spPr>
          <a:xfrm>
            <a:off x="548640" y="1463040"/>
            <a:ext cx="777240" cy="155448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32" name="Agenda min 8"/>
          <p:cNvSpPr txBox="1"/>
          <p:nvPr/>
        </p:nvSpPr>
        <p:spPr>
          <a:xfrm>
            <a:off x="548640" y="16002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10</a:t>
            </a:r>
            <a:endParaRPr lang="en-US" sz="2400" dirty="0"/>
          </a:p>
        </p:txBody>
      </p:sp>
      <p:sp>
        <p:nvSpPr>
          <p:cNvPr id="33" name="Agenda unit 8"/>
          <p:cNvSpPr txBox="1"/>
          <p:nvPr/>
        </p:nvSpPr>
        <p:spPr>
          <a:xfrm>
            <a:off x="548640" y="2084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000" dirty="0">
                <a:solidFill>
                  <a:schemeClr val="tx2"/>
                </a:solidFill>
              </a:rPr>
              <a:t>دقيقة</a:t>
            </a:r>
            <a:endParaRPr lang="ar-EG" sz="1000" dirty="0"/>
          </a:p>
        </p:txBody>
      </p:sp>
      <p:sp>
        <p:nvSpPr>
          <p:cNvPr id="34" name="Agenda label 8"/>
          <p:cNvSpPr txBox="1"/>
          <p:nvPr/>
        </p:nvSpPr>
        <p:spPr>
          <a:xfrm>
            <a:off x="512064" y="3154680"/>
            <a:ext cx="850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EG" altLang="en-US" sz="1100" dirty="0">
                <a:solidFill>
                  <a:schemeClr val="tx1"/>
                </a:solidFill>
              </a:rPr>
              <a:t>ختام</a:t>
            </a:r>
            <a:endParaRPr lang="ar-EG" sz="1100" dirty="0"/>
          </a:p>
        </p:txBody>
      </p:sp>
      <p:sp>
        <p:nvSpPr>
          <p:cNvPr id="35" name="Agenda note"/>
          <p:cNvSpPr txBox="1"/>
          <p:nvPr/>
        </p:nvSpPr>
        <p:spPr>
          <a:xfrm>
            <a:off x="493776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i="1" dirty="0">
                <a:solidFill>
                  <a:schemeClr val="tx2"/>
                </a:solidFill>
              </a:rPr>
              <a:t>+ 10 دقايق افتتاح</a:t>
            </a:r>
            <a:endParaRPr lang="ar-EG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في آخر الورشة هتقدر…</a:t>
            </a:r>
            <a:endParaRPr lang="ar-EG" sz="3000" dirty="0"/>
          </a:p>
        </p:txBody>
      </p:sp>
      <p:sp>
        <p:nvSpPr>
          <p:cNvPr id="3" name="Objective card 1"/>
          <p:cNvSpPr/>
          <p:nvPr/>
        </p:nvSpPr>
        <p:spPr>
          <a:xfrm>
            <a:off x="466344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Objective num 1"/>
          <p:cNvSpPr txBox="1"/>
          <p:nvPr/>
        </p:nvSpPr>
        <p:spPr>
          <a:xfrm>
            <a:off x="78181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5" name="Objective text 1"/>
          <p:cNvSpPr txBox="1"/>
          <p:nvPr/>
        </p:nvSpPr>
        <p:spPr>
          <a:xfrm>
            <a:off x="489204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تفهم الـ CV بيتقري إزاي في 6 ثواني</a:t>
            </a:r>
            <a:endParaRPr lang="ar-EG" sz="1800" dirty="0"/>
          </a:p>
        </p:txBody>
      </p:sp>
      <p:sp>
        <p:nvSpPr>
          <p:cNvPr id="6" name="Objective card 2"/>
          <p:cNvSpPr/>
          <p:nvPr/>
        </p:nvSpPr>
        <p:spPr>
          <a:xfrm>
            <a:off x="548640" y="118872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Objective num 2"/>
          <p:cNvSpPr txBox="1"/>
          <p:nvPr/>
        </p:nvSpPr>
        <p:spPr>
          <a:xfrm>
            <a:off x="370332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2</a:t>
            </a:r>
            <a:endParaRPr lang="en-US" sz="3000" dirty="0"/>
          </a:p>
        </p:txBody>
      </p:sp>
      <p:sp>
        <p:nvSpPr>
          <p:cNvPr id="8" name="Objective text 2"/>
          <p:cNvSpPr txBox="1"/>
          <p:nvPr/>
        </p:nvSpPr>
        <p:spPr>
          <a:xfrm>
            <a:off x="777240" y="137160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ترتب أقسام الـ CV صح</a:t>
            </a:r>
            <a:endParaRPr lang="ar-EG" sz="1800" dirty="0"/>
          </a:p>
        </p:txBody>
      </p:sp>
      <p:sp>
        <p:nvSpPr>
          <p:cNvPr id="9" name="Objective card 3"/>
          <p:cNvSpPr/>
          <p:nvPr/>
        </p:nvSpPr>
        <p:spPr>
          <a:xfrm>
            <a:off x="466344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0" name="Objective num 3"/>
          <p:cNvSpPr txBox="1"/>
          <p:nvPr/>
        </p:nvSpPr>
        <p:spPr>
          <a:xfrm>
            <a:off x="78181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1" name="Objective text 3"/>
          <p:cNvSpPr txBox="1"/>
          <p:nvPr/>
        </p:nvSpPr>
        <p:spPr>
          <a:xfrm>
            <a:off x="4892040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تكتب إنجازات مش مهام</a:t>
            </a:r>
            <a:endParaRPr lang="ar-EG" sz="1800" dirty="0"/>
          </a:p>
        </p:txBody>
      </p:sp>
      <p:sp>
        <p:nvSpPr>
          <p:cNvPr id="12" name="Objective card 4"/>
          <p:cNvSpPr/>
          <p:nvPr/>
        </p:nvSpPr>
        <p:spPr>
          <a:xfrm>
            <a:off x="548640" y="2880360"/>
            <a:ext cx="393192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3" name="Objective num 4"/>
          <p:cNvSpPr txBox="1"/>
          <p:nvPr/>
        </p:nvSpPr>
        <p:spPr>
          <a:xfrm>
            <a:off x="37033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Objective text 4"/>
          <p:cNvSpPr txBox="1"/>
          <p:nvPr/>
        </p:nvSpPr>
        <p:spPr>
          <a:xfrm>
            <a:off x="777240" y="306324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800" dirty="0">
                <a:solidFill>
                  <a:schemeClr val="tx1"/>
                </a:solidFill>
              </a:rPr>
              <a:t>تطلع بـ CV مناسب للـ ATS</a:t>
            </a:r>
            <a:endParaRPr lang="ar-EG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</a:rPr>
              <a:t>نشاط 1 · 15 دقيقة · أزواج</a:t>
            </a:r>
            <a:endParaRPr lang="ar-EG" sz="13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</a:rPr>
              <a:t>اختبار الـ 6 ثواني</a:t>
            </a:r>
            <a:endParaRPr lang="ar-EG" sz="3000" dirty="0"/>
          </a:p>
        </p:txBody>
      </p:sp>
      <p:sp>
        <p:nvSpPr>
          <p:cNvPr id="4" name="Step card 1"/>
          <p:cNvSpPr/>
          <p:nvPr/>
        </p:nvSpPr>
        <p:spPr>
          <a:xfrm>
            <a:off x="606552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8181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629412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هعرض CV لمدة 6 ثواني بس</a:t>
            </a:r>
            <a:endParaRPr lang="ar-EG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5059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اكتبوا كل اللي فاكرينه من غير ما تبصوا</a:t>
            </a:r>
            <a:endParaRPr lang="ar-EG" sz="1500" dirty="0"/>
          </a:p>
        </p:txBody>
      </p:sp>
      <p:sp>
        <p:nvSpPr>
          <p:cNvPr id="10" name="Step card 3"/>
          <p:cNvSpPr/>
          <p:nvPr/>
        </p:nvSpPr>
        <p:spPr>
          <a:xfrm>
            <a:off x="54864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2301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77724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نكرر مع CV تاني ونقارن القايمتين</a:t>
            </a:r>
            <a:endParaRPr lang="ar-EG" sz="1500" dirty="0"/>
          </a:p>
        </p:txBody>
      </p:sp>
      <p:sp>
        <p:nvSpPr>
          <p:cNvPr id="13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4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المخرج: قايمتين، وفرق واضح بينهم</a:t>
            </a:r>
            <a:endParaRPr lang="ar-EG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CV أ</a:t>
            </a:r>
            <a:endParaRPr lang="ar-EG" sz="3000" dirty="0"/>
          </a:p>
        </p:txBody>
      </p:sp>
      <p:sp>
        <p:nvSpPr>
          <p:cNvPr id="3" name="CV page"/>
          <p:cNvSpPr/>
          <p:nvPr/>
        </p:nvSpPr>
        <p:spPr>
          <a:xfrm>
            <a:off x="2743200" y="109728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29718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2"/>
                </a:solidFill>
              </a:rPr>
              <a:t>الهدف الوظيفي: الحصول على وظيفة في شركة كبيرة تتيح لي التطور واكتساب الخبرات والعمل في بيئة عمل محفزة…</a:t>
            </a:r>
            <a:endParaRPr lang="ar-EG" sz="8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1"/>
                </a:solidFill>
              </a:rPr>
              <a:t>أحمد محمد علي · 01xxxxxxxxx · ahmed@example.com · القاهرة</a:t>
            </a:r>
            <a:endParaRPr lang="ar-EG" sz="800" dirty="0"/>
          </a:p>
        </p:txBody>
      </p:sp>
      <p:sp>
        <p:nvSpPr>
          <p:cNvPr id="6" name="Clutter 0"/>
          <p:cNvSpPr/>
          <p:nvPr/>
        </p:nvSpPr>
        <p:spPr>
          <a:xfrm>
            <a:off x="2971800" y="2057400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7" name="Clutter 1"/>
          <p:cNvSpPr/>
          <p:nvPr/>
        </p:nvSpPr>
        <p:spPr>
          <a:xfrm>
            <a:off x="4617720" y="2057400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8" name="Clutter 2"/>
          <p:cNvSpPr/>
          <p:nvPr/>
        </p:nvSpPr>
        <p:spPr>
          <a:xfrm>
            <a:off x="2971800" y="2350008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9" name="Clutter 3"/>
          <p:cNvSpPr/>
          <p:nvPr/>
        </p:nvSpPr>
        <p:spPr>
          <a:xfrm>
            <a:off x="4617720" y="2350008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0" name="Clutter 4"/>
          <p:cNvSpPr/>
          <p:nvPr/>
        </p:nvSpPr>
        <p:spPr>
          <a:xfrm>
            <a:off x="2971800" y="2642616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1" name="Clutter 5"/>
          <p:cNvSpPr/>
          <p:nvPr/>
        </p:nvSpPr>
        <p:spPr>
          <a:xfrm>
            <a:off x="4617720" y="2642616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2" name="Clutter 6"/>
          <p:cNvSpPr/>
          <p:nvPr/>
        </p:nvSpPr>
        <p:spPr>
          <a:xfrm>
            <a:off x="2971800" y="2935224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3" name="Clutter 7"/>
          <p:cNvSpPr/>
          <p:nvPr/>
        </p:nvSpPr>
        <p:spPr>
          <a:xfrm>
            <a:off x="4617720" y="2935224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4" name="Clutter 8"/>
          <p:cNvSpPr/>
          <p:nvPr/>
        </p:nvSpPr>
        <p:spPr>
          <a:xfrm>
            <a:off x="2971800" y="3227832"/>
            <a:ext cx="1508760" cy="64008"/>
          </a:xfrm>
          <a:prstGeom prst="rect">
            <a:avLst/>
          </a:prstGeom>
          <a:solidFill>
            <a:srgbClr val="C9CFD8"/>
          </a:solidFill>
          <a:ln w="12700">
            <a:solidFill>
              <a:srgbClr val="C9CFD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71800" y="36118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2"/>
                </a:solidFill>
              </a:rPr>
              <a:t>مسؤول عن إدخال البيانات · عضو في نشاط طلابي · حضرت كورسات</a:t>
            </a:r>
            <a:endParaRPr lang="ar-EG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41148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2"/>
                </a:solidFill>
              </a:rPr>
              <a:t>المهارات: Excel, Word, العمل الجماعي, القيادة, التواصل…</a:t>
            </a:r>
            <a:endParaRPr lang="ar-EG" sz="800" dirty="0"/>
          </a:p>
        </p:txBody>
      </p:sp>
      <p:sp>
        <p:nvSpPr>
          <p:cNvPr id="17" name="Mock caption"/>
          <p:cNvSpPr txBox="1"/>
          <p:nvPr/>
        </p:nvSpPr>
        <p:spPr>
          <a:xfrm>
            <a:off x="662940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i="1" dirty="0">
                <a:solidFill>
                  <a:schemeClr val="tx2"/>
                </a:solidFill>
              </a:rPr>
              <a:t>شخصية خيالية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CV ب</a:t>
            </a:r>
            <a:endParaRPr lang="ar-EG" sz="3000" dirty="0"/>
          </a:p>
        </p:txBody>
      </p:sp>
      <p:sp>
        <p:nvSpPr>
          <p:cNvPr id="3" name="CV page"/>
          <p:cNvSpPr/>
          <p:nvPr/>
        </p:nvSpPr>
        <p:spPr>
          <a:xfrm>
            <a:off x="2743200" y="1097280"/>
            <a:ext cx="36576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V name"/>
          <p:cNvSpPr txBox="1"/>
          <p:nvPr/>
        </p:nvSpPr>
        <p:spPr>
          <a:xfrm>
            <a:off x="29718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أحمد محمد علي</a:t>
            </a:r>
            <a:endParaRPr lang="ar-EG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971800" y="1600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b="1" dirty="0">
                <a:solidFill>
                  <a:schemeClr val="accent1"/>
                </a:solidFill>
              </a:rPr>
              <a:t>خريج تجارة إنجليزي 2026 · Junior Accountant</a:t>
            </a:r>
            <a:endParaRPr lang="ar-EG" sz="9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965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b="1" dirty="0">
                <a:solidFill>
                  <a:schemeClr val="accent1"/>
                </a:solidFill>
              </a:rPr>
              <a:t>الملخص</a:t>
            </a:r>
            <a:endParaRPr lang="ar-EG" sz="900" dirty="0"/>
          </a:p>
        </p:txBody>
      </p:sp>
      <p:sp>
        <p:nvSpPr>
          <p:cNvPr id="7" name="Rule الملخص"/>
          <p:cNvSpPr/>
          <p:nvPr/>
        </p:nvSpPr>
        <p:spPr>
          <a:xfrm>
            <a:off x="2971800" y="2212848"/>
            <a:ext cx="3200400" cy="13716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71800" y="225856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1"/>
                </a:solidFill>
              </a:rPr>
              <a:t>تدريب 3 شهور في المحاسبة، شاطر في Excel وتحليل البيانات.</a:t>
            </a:r>
            <a:endParaRPr lang="ar-EG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971800" y="26060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b="1" dirty="0">
                <a:solidFill>
                  <a:schemeClr val="accent1"/>
                </a:solidFill>
              </a:rPr>
              <a:t>التعليم</a:t>
            </a:r>
            <a:endParaRPr lang="ar-EG" sz="900" dirty="0"/>
          </a:p>
        </p:txBody>
      </p:sp>
      <p:sp>
        <p:nvSpPr>
          <p:cNvPr id="10" name="Rule التعليم"/>
          <p:cNvSpPr/>
          <p:nvPr/>
        </p:nvSpPr>
        <p:spPr>
          <a:xfrm>
            <a:off x="2971800" y="2852928"/>
            <a:ext cx="3200400" cy="13716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2898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1"/>
                </a:solidFill>
              </a:rPr>
              <a:t>بكالوريوس تجارة إنجليزي · جامعة خيالية · 2026</a:t>
            </a:r>
            <a:endParaRPr lang="ar-EG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2461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b="1" dirty="0">
                <a:solidFill>
                  <a:schemeClr val="accent1"/>
                </a:solidFill>
              </a:rPr>
              <a:t>المشاريع والتدريب</a:t>
            </a:r>
            <a:endParaRPr lang="ar-EG" sz="900" dirty="0"/>
          </a:p>
        </p:txBody>
      </p:sp>
      <p:sp>
        <p:nvSpPr>
          <p:cNvPr id="13" name="Rule المشاريع والتدريب"/>
          <p:cNvSpPr/>
          <p:nvPr/>
        </p:nvSpPr>
        <p:spPr>
          <a:xfrm>
            <a:off x="2971800" y="3493008"/>
            <a:ext cx="3200400" cy="13716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35387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1"/>
                </a:solidFill>
              </a:rPr>
              <a:t>راجعت فواتير أكتر من 40 عميل شهريًا ولقيت 12 خطأ تسجيل.</a:t>
            </a:r>
            <a:endParaRPr lang="ar-EG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38862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900" b="1" dirty="0">
                <a:solidFill>
                  <a:schemeClr val="accent1"/>
                </a:solidFill>
              </a:rPr>
              <a:t>المهارات</a:t>
            </a:r>
            <a:endParaRPr lang="ar-EG" sz="900" dirty="0"/>
          </a:p>
        </p:txBody>
      </p:sp>
      <p:sp>
        <p:nvSpPr>
          <p:cNvPr id="16" name="Rule المهارات"/>
          <p:cNvSpPr/>
          <p:nvPr/>
        </p:nvSpPr>
        <p:spPr>
          <a:xfrm>
            <a:off x="2971800" y="4133088"/>
            <a:ext cx="3200400" cy="13716"/>
          </a:xfrm>
          <a:prstGeom prst="rect">
            <a:avLst/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71800" y="41788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800" dirty="0">
                <a:solidFill>
                  <a:schemeClr val="tx1"/>
                </a:solidFill>
              </a:rPr>
              <a:t>Excel · تحليل بيانات · محاسبة مالية</a:t>
            </a:r>
            <a:endParaRPr lang="ar-EG" sz="800" dirty="0"/>
          </a:p>
        </p:txBody>
      </p:sp>
      <p:sp>
        <p:nvSpPr>
          <p:cNvPr id="18" name="Mock caption"/>
          <p:cNvSpPr txBox="1"/>
          <p:nvPr/>
        </p:nvSpPr>
        <p:spPr>
          <a:xfrm>
            <a:off x="6629400" y="25603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i="1" dirty="0">
                <a:solidFill>
                  <a:schemeClr val="tx2"/>
                </a:solidFill>
              </a:rPr>
              <a:t>نفس الشخص، بعد الترتيب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أقسام الـ CV بالترتيب</a:t>
            </a:r>
            <a:endParaRPr lang="ar-EG" sz="3000" dirty="0"/>
          </a:p>
        </p:txBody>
      </p:sp>
      <p:sp>
        <p:nvSpPr>
          <p:cNvPr id="3" name="Section step 1"/>
          <p:cNvSpPr/>
          <p:nvPr/>
        </p:nvSpPr>
        <p:spPr>
          <a:xfrm>
            <a:off x="736854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Section num 1"/>
          <p:cNvSpPr txBox="1"/>
          <p:nvPr/>
        </p:nvSpPr>
        <p:spPr>
          <a:xfrm>
            <a:off x="736854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1</a:t>
            </a:r>
            <a:endParaRPr lang="en-US" sz="2200" dirty="0"/>
          </a:p>
        </p:txBody>
      </p:sp>
      <p:sp>
        <p:nvSpPr>
          <p:cNvPr id="5" name="Section label 1"/>
          <p:cNvSpPr txBox="1"/>
          <p:nvPr/>
        </p:nvSpPr>
        <p:spPr>
          <a:xfrm>
            <a:off x="742340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البيانات الأساسية</a:t>
            </a:r>
            <a:endParaRPr lang="ar-EG" sz="1400" dirty="0"/>
          </a:p>
        </p:txBody>
      </p:sp>
      <p:sp>
        <p:nvSpPr>
          <p:cNvPr id="6" name="Section arrow 1"/>
          <p:cNvSpPr txBox="1"/>
          <p:nvPr/>
        </p:nvSpPr>
        <p:spPr>
          <a:xfrm>
            <a:off x="723138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</a:t>
            </a:r>
            <a:endParaRPr lang="en-US" sz="1200" dirty="0"/>
          </a:p>
        </p:txBody>
      </p:sp>
      <p:sp>
        <p:nvSpPr>
          <p:cNvPr id="7" name="Section step 2"/>
          <p:cNvSpPr/>
          <p:nvPr/>
        </p:nvSpPr>
        <p:spPr>
          <a:xfrm>
            <a:off x="600456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Section num 2"/>
          <p:cNvSpPr txBox="1"/>
          <p:nvPr/>
        </p:nvSpPr>
        <p:spPr>
          <a:xfrm>
            <a:off x="600456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Section label 2"/>
          <p:cNvSpPr txBox="1"/>
          <p:nvPr/>
        </p:nvSpPr>
        <p:spPr>
          <a:xfrm>
            <a:off x="605942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الملخص</a:t>
            </a:r>
            <a:endParaRPr lang="ar-EG" sz="1400" dirty="0"/>
          </a:p>
        </p:txBody>
      </p:sp>
      <p:sp>
        <p:nvSpPr>
          <p:cNvPr id="10" name="Section arrow 2"/>
          <p:cNvSpPr txBox="1"/>
          <p:nvPr/>
        </p:nvSpPr>
        <p:spPr>
          <a:xfrm>
            <a:off x="586740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</a:t>
            </a:r>
            <a:endParaRPr lang="en-US" sz="1200" dirty="0"/>
          </a:p>
        </p:txBody>
      </p:sp>
      <p:sp>
        <p:nvSpPr>
          <p:cNvPr id="11" name="Section step 3"/>
          <p:cNvSpPr/>
          <p:nvPr/>
        </p:nvSpPr>
        <p:spPr>
          <a:xfrm>
            <a:off x="464058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2" name="Section num 3"/>
          <p:cNvSpPr txBox="1"/>
          <p:nvPr/>
        </p:nvSpPr>
        <p:spPr>
          <a:xfrm>
            <a:off x="464058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3</a:t>
            </a:r>
            <a:endParaRPr lang="en-US" sz="2200" dirty="0"/>
          </a:p>
        </p:txBody>
      </p:sp>
      <p:sp>
        <p:nvSpPr>
          <p:cNvPr id="13" name="Section label 3"/>
          <p:cNvSpPr txBox="1"/>
          <p:nvPr/>
        </p:nvSpPr>
        <p:spPr>
          <a:xfrm>
            <a:off x="469544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b="1" dirty="0">
                <a:solidFill>
                  <a:schemeClr val="bg1"/>
                </a:solidFill>
              </a:rPr>
              <a:t>التعليم</a:t>
            </a:r>
            <a:endParaRPr lang="ar-EG" sz="1400" dirty="0"/>
          </a:p>
        </p:txBody>
      </p:sp>
      <p:sp>
        <p:nvSpPr>
          <p:cNvPr id="14" name="Section arrow 3"/>
          <p:cNvSpPr txBox="1"/>
          <p:nvPr/>
        </p:nvSpPr>
        <p:spPr>
          <a:xfrm>
            <a:off x="450342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</a:t>
            </a:r>
            <a:endParaRPr lang="en-US" sz="1200" dirty="0"/>
          </a:p>
        </p:txBody>
      </p:sp>
      <p:sp>
        <p:nvSpPr>
          <p:cNvPr id="15" name="Section step 4"/>
          <p:cNvSpPr/>
          <p:nvPr/>
        </p:nvSpPr>
        <p:spPr>
          <a:xfrm>
            <a:off x="327660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Section num 4"/>
          <p:cNvSpPr txBox="1"/>
          <p:nvPr/>
        </p:nvSpPr>
        <p:spPr>
          <a:xfrm>
            <a:off x="327660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4</a:t>
            </a:r>
            <a:endParaRPr lang="en-US" sz="2200" dirty="0"/>
          </a:p>
        </p:txBody>
      </p:sp>
      <p:sp>
        <p:nvSpPr>
          <p:cNvPr id="17" name="Section label 4"/>
          <p:cNvSpPr txBox="1"/>
          <p:nvPr/>
        </p:nvSpPr>
        <p:spPr>
          <a:xfrm>
            <a:off x="333146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المشاريع والتدريب</a:t>
            </a:r>
            <a:endParaRPr lang="ar-EG" sz="1400" dirty="0"/>
          </a:p>
        </p:txBody>
      </p:sp>
      <p:sp>
        <p:nvSpPr>
          <p:cNvPr id="18" name="Section arrow 4"/>
          <p:cNvSpPr txBox="1"/>
          <p:nvPr/>
        </p:nvSpPr>
        <p:spPr>
          <a:xfrm>
            <a:off x="313944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</a:t>
            </a:r>
            <a:endParaRPr lang="en-US" sz="1200" dirty="0"/>
          </a:p>
        </p:txBody>
      </p:sp>
      <p:sp>
        <p:nvSpPr>
          <p:cNvPr id="19" name="Section step 5"/>
          <p:cNvSpPr/>
          <p:nvPr/>
        </p:nvSpPr>
        <p:spPr>
          <a:xfrm>
            <a:off x="191262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0" name="Section num 5"/>
          <p:cNvSpPr txBox="1"/>
          <p:nvPr/>
        </p:nvSpPr>
        <p:spPr>
          <a:xfrm>
            <a:off x="191262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5</a:t>
            </a:r>
            <a:endParaRPr lang="en-US" sz="2200" dirty="0"/>
          </a:p>
        </p:txBody>
      </p:sp>
      <p:sp>
        <p:nvSpPr>
          <p:cNvPr id="21" name="Section label 5"/>
          <p:cNvSpPr txBox="1"/>
          <p:nvPr/>
        </p:nvSpPr>
        <p:spPr>
          <a:xfrm>
            <a:off x="196748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الأنشطة والتطوع</a:t>
            </a:r>
            <a:endParaRPr lang="ar-EG" sz="1400" dirty="0"/>
          </a:p>
        </p:txBody>
      </p:sp>
      <p:sp>
        <p:nvSpPr>
          <p:cNvPr id="22" name="Section arrow 5"/>
          <p:cNvSpPr txBox="1"/>
          <p:nvPr/>
        </p:nvSpPr>
        <p:spPr>
          <a:xfrm>
            <a:off x="1775460" y="214884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</a:t>
            </a:r>
            <a:endParaRPr lang="en-US" sz="1200" dirty="0"/>
          </a:p>
        </p:txBody>
      </p:sp>
      <p:sp>
        <p:nvSpPr>
          <p:cNvPr id="23" name="Section step 6"/>
          <p:cNvSpPr/>
          <p:nvPr/>
        </p:nvSpPr>
        <p:spPr>
          <a:xfrm>
            <a:off x="548640" y="1600200"/>
            <a:ext cx="1226820" cy="1463040"/>
          </a:xfrm>
          <a:prstGeom prst="roundRect">
            <a:avLst>
              <a:gd name="adj" fmla="val 8944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4" name="Section num 6"/>
          <p:cNvSpPr txBox="1"/>
          <p:nvPr/>
        </p:nvSpPr>
        <p:spPr>
          <a:xfrm>
            <a:off x="548640" y="1691640"/>
            <a:ext cx="12268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6</a:t>
            </a:r>
            <a:endParaRPr lang="en-US" sz="2200" dirty="0"/>
          </a:p>
        </p:txBody>
      </p:sp>
      <p:sp>
        <p:nvSpPr>
          <p:cNvPr id="25" name="Section label 6"/>
          <p:cNvSpPr txBox="1"/>
          <p:nvPr/>
        </p:nvSpPr>
        <p:spPr>
          <a:xfrm>
            <a:off x="603504" y="2194560"/>
            <a:ext cx="11170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400" dirty="0">
                <a:solidFill>
                  <a:schemeClr val="tx1"/>
                </a:solidFill>
              </a:rPr>
              <a:t>المهارات</a:t>
            </a:r>
            <a:endParaRPr lang="ar-EG" sz="1400" dirty="0"/>
          </a:p>
        </p:txBody>
      </p:sp>
      <p:sp>
        <p:nvSpPr>
          <p:cNvPr id="26" name="Section note"/>
          <p:cNvSpPr txBox="1"/>
          <p:nvPr/>
        </p:nvSpPr>
        <p:spPr>
          <a:xfrm>
            <a:off x="310896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accent1"/>
                </a:solidFill>
              </a:rPr>
              <a:t>التعليم قبل الخبرة لحديث التخرج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</a:rPr>
              <a:t>نشاط 2 · 4 دقايق · أزواج</a:t>
            </a:r>
            <a:endParaRPr lang="ar-EG" sz="13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</a:rPr>
              <a:t>رتّب الأقسام</a:t>
            </a:r>
            <a:endParaRPr lang="ar-EG" sz="3000" dirty="0"/>
          </a:p>
        </p:txBody>
      </p:sp>
      <p:sp>
        <p:nvSpPr>
          <p:cNvPr id="4" name="Step card 1"/>
          <p:cNvSpPr/>
          <p:nvPr/>
        </p:nvSpPr>
        <p:spPr>
          <a:xfrm>
            <a:off x="606552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8181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629412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رتّبوا الـ 6 كروت من فوق لتحت</a:t>
            </a:r>
            <a:endParaRPr lang="ar-EG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5059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قارنوا بالترتيب المقترح</a:t>
            </a:r>
            <a:endParaRPr lang="ar-EG" sz="1500" dirty="0"/>
          </a:p>
        </p:txBody>
      </p:sp>
      <p:sp>
        <p:nvSpPr>
          <p:cNvPr id="10" name="Step card 3"/>
          <p:cNvSpPr/>
          <p:nvPr/>
        </p:nvSpPr>
        <p:spPr>
          <a:xfrm>
            <a:off x="54864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2301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77724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زوج يشرح أي اختلاف</a:t>
            </a:r>
            <a:endParaRPr lang="ar-EG" sz="1500" dirty="0"/>
          </a:p>
        </p:txBody>
      </p:sp>
      <p:sp>
        <p:nvSpPr>
          <p:cNvPr id="13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4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المخرج: ترتيب متفق عليه على كل ترابيزة</a:t>
            </a:r>
            <a:endParaRPr lang="ar-EG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مين بيقرا الـ CV؟</a:t>
            </a:r>
            <a:endParaRPr lang="ar-EG" sz="3000" dirty="0"/>
          </a:p>
        </p:txBody>
      </p:sp>
      <p:sp>
        <p:nvSpPr>
          <p:cNvPr id="3" name="الـ Recruiter card"/>
          <p:cNvSpPr/>
          <p:nvPr/>
        </p:nvSpPr>
        <p:spPr>
          <a:xfrm>
            <a:off x="4663440" y="11430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الـ Recruiter circle"/>
          <p:cNvSpPr/>
          <p:nvPr/>
        </p:nvSpPr>
        <p:spPr>
          <a:xfrm>
            <a:off x="7726680" y="1325880"/>
            <a:ext cx="640080" cy="64008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5" name="الـ Recruiter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463040"/>
            <a:ext cx="365760" cy="365760"/>
          </a:xfrm>
          <a:prstGeom prst="rect">
            <a:avLst/>
          </a:prstGeom>
        </p:spPr>
      </p:pic>
      <p:sp>
        <p:nvSpPr>
          <p:cNvPr id="6" name="الـ Recruiter head"/>
          <p:cNvSpPr txBox="1"/>
          <p:nvPr/>
        </p:nvSpPr>
        <p:spPr>
          <a:xfrm>
            <a:off x="48920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الـ Recruiter</a:t>
            </a:r>
            <a:endParaRPr lang="ar-EG" sz="2200" dirty="0"/>
          </a:p>
        </p:txBody>
      </p:sp>
      <p:sp>
        <p:nvSpPr>
          <p:cNvPr id="7" name="الـ Recruiter dot 1"/>
          <p:cNvSpPr/>
          <p:nvPr/>
        </p:nvSpPr>
        <p:spPr>
          <a:xfrm>
            <a:off x="8183880" y="230428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8" name="الـ Recruiter item 1"/>
          <p:cNvSpPr txBox="1"/>
          <p:nvPr/>
        </p:nvSpPr>
        <p:spPr>
          <a:xfrm>
            <a:off x="4937760" y="21488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بيقرر في حوالي 6 ثواني</a:t>
            </a:r>
            <a:endParaRPr lang="ar-EG" sz="1500" dirty="0"/>
          </a:p>
        </p:txBody>
      </p:sp>
      <p:sp>
        <p:nvSpPr>
          <p:cNvPr id="9" name="الـ Recruiter dot 2"/>
          <p:cNvSpPr/>
          <p:nvPr/>
        </p:nvSpPr>
        <p:spPr>
          <a:xfrm>
            <a:off x="8183880" y="280720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0" name="الـ Recruiter item 2"/>
          <p:cNvSpPr txBox="1"/>
          <p:nvPr/>
        </p:nvSpPr>
        <p:spPr>
          <a:xfrm>
            <a:off x="4937760" y="26517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بيدوّر على الاسم والتخصص والمهارات</a:t>
            </a:r>
            <a:endParaRPr lang="ar-EG" sz="1500" dirty="0"/>
          </a:p>
        </p:txBody>
      </p:sp>
      <p:sp>
        <p:nvSpPr>
          <p:cNvPr id="11" name="الـ Recruiter dot 3"/>
          <p:cNvSpPr/>
          <p:nvPr/>
        </p:nvSpPr>
        <p:spPr>
          <a:xfrm>
            <a:off x="8183880" y="331012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2" name="الـ Recruiter item 3"/>
          <p:cNvSpPr txBox="1"/>
          <p:nvPr/>
        </p:nvSpPr>
        <p:spPr>
          <a:xfrm>
            <a:off x="4937760" y="3154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بيحب الترتيب والوضوح</a:t>
            </a:r>
            <a:endParaRPr lang="ar-EG" sz="1500" dirty="0"/>
          </a:p>
        </p:txBody>
      </p:sp>
      <p:sp>
        <p:nvSpPr>
          <p:cNvPr id="13" name="الـ ATS card"/>
          <p:cNvSpPr/>
          <p:nvPr/>
        </p:nvSpPr>
        <p:spPr>
          <a:xfrm>
            <a:off x="548640" y="11430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4" name="الـ ATS circle"/>
          <p:cNvSpPr/>
          <p:nvPr/>
        </p:nvSpPr>
        <p:spPr>
          <a:xfrm>
            <a:off x="3611880" y="1325880"/>
            <a:ext cx="640080" cy="640080"/>
          </a:xfrm>
          <a:prstGeom prst="ellipse">
            <a:avLst/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pic>
        <p:nvPicPr>
          <p:cNvPr id="15" name="الـ AT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463040"/>
            <a:ext cx="365760" cy="365760"/>
          </a:xfrm>
          <a:prstGeom prst="rect">
            <a:avLst/>
          </a:prstGeom>
        </p:spPr>
      </p:pic>
      <p:sp>
        <p:nvSpPr>
          <p:cNvPr id="16" name="الـ ATS head"/>
          <p:cNvSpPr txBox="1"/>
          <p:nvPr/>
        </p:nvSpPr>
        <p:spPr>
          <a:xfrm>
            <a:off x="77724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الـ ATS</a:t>
            </a:r>
            <a:endParaRPr lang="ar-EG" sz="2200" dirty="0"/>
          </a:p>
        </p:txBody>
      </p:sp>
      <p:sp>
        <p:nvSpPr>
          <p:cNvPr id="17" name="الـ ATS dot 1"/>
          <p:cNvSpPr/>
          <p:nvPr/>
        </p:nvSpPr>
        <p:spPr>
          <a:xfrm>
            <a:off x="4069080" y="230428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8" name="الـ ATS item 1"/>
          <p:cNvSpPr txBox="1"/>
          <p:nvPr/>
        </p:nvSpPr>
        <p:spPr>
          <a:xfrm>
            <a:off x="822960" y="21488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بيقرا النص بس</a:t>
            </a:r>
            <a:endParaRPr lang="ar-EG" sz="1500" dirty="0"/>
          </a:p>
        </p:txBody>
      </p:sp>
      <p:sp>
        <p:nvSpPr>
          <p:cNvPr id="19" name="الـ ATS dot 2"/>
          <p:cNvSpPr/>
          <p:nvPr/>
        </p:nvSpPr>
        <p:spPr>
          <a:xfrm>
            <a:off x="4069080" y="280720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0" name="الـ ATS item 2"/>
          <p:cNvSpPr txBox="1"/>
          <p:nvPr/>
        </p:nvSpPr>
        <p:spPr>
          <a:xfrm>
            <a:off x="822960" y="26517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بيفلتر بالكلمات المفتاحية</a:t>
            </a:r>
            <a:endParaRPr lang="ar-EG" sz="1500" dirty="0"/>
          </a:p>
        </p:txBody>
      </p:sp>
      <p:sp>
        <p:nvSpPr>
          <p:cNvPr id="21" name="الـ ATS dot 3"/>
          <p:cNvSpPr/>
          <p:nvPr/>
        </p:nvSpPr>
        <p:spPr>
          <a:xfrm>
            <a:off x="4069080" y="331012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2" name="الـ ATS item 3"/>
          <p:cNvSpPr txBox="1"/>
          <p:nvPr/>
        </p:nvSpPr>
        <p:spPr>
          <a:xfrm>
            <a:off x="822960" y="31546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بيتلخبط من الجداول والأعمدة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</a:rPr>
              <a:t>نشاط 3 · 20 دقيقة · فرق من 4</a:t>
            </a:r>
            <a:endParaRPr lang="ar-EG" sz="13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</a:rPr>
              <a:t>إنت الـ Recruiter</a:t>
            </a:r>
            <a:endParaRPr lang="ar-EG" sz="3000" dirty="0"/>
          </a:p>
        </p:txBody>
      </p:sp>
      <p:sp>
        <p:nvSpPr>
          <p:cNvPr id="4" name="Step card 1"/>
          <p:cNvSpPr/>
          <p:nvPr/>
        </p:nvSpPr>
        <p:spPr>
          <a:xfrm>
            <a:off x="606552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8181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629412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كل فريق شركة بتعيّن Junior Accountant</a:t>
            </a:r>
            <a:endParaRPr lang="ar-EG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5059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رتّبوا الـ 4 CVs واكتبوا سبب لكل واحد</a:t>
            </a:r>
            <a:endParaRPr lang="ar-EG" sz="1500" dirty="0"/>
          </a:p>
        </p:txBody>
      </p:sp>
      <p:sp>
        <p:nvSpPr>
          <p:cNvPr id="10" name="Step card 3"/>
          <p:cNvSpPr/>
          <p:nvPr/>
        </p:nvSpPr>
        <p:spPr>
          <a:xfrm>
            <a:off x="54864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2301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77724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أعلنوا الأول وأكبر سبب رفض</a:t>
            </a:r>
            <a:endParaRPr lang="ar-EG" sz="1500" dirty="0"/>
          </a:p>
        </p:txBody>
      </p:sp>
      <p:sp>
        <p:nvSpPr>
          <p:cNvPr id="13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4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المخرج: ترتيب، وقايمة أسباب رفض على السبورة</a:t>
            </a:r>
            <a:endParaRPr lang="ar-EG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معادلة الإنجاز</a:t>
            </a:r>
            <a:endParaRPr lang="ar-EG" sz="3000" dirty="0"/>
          </a:p>
        </p:txBody>
      </p:sp>
      <p:sp>
        <p:nvSpPr>
          <p:cNvPr id="3" name="Formula card 1"/>
          <p:cNvSpPr/>
          <p:nvPr/>
        </p:nvSpPr>
        <p:spPr>
          <a:xfrm>
            <a:off x="6309360" y="155448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F1F33"/>
          </a:solidFill>
          <a:ln w="12700">
            <a:solidFill>
              <a:srgbClr val="0F1F33"/>
            </a:solidFill>
            <a:prstDash val="solid"/>
          </a:ln>
        </p:spPr>
      </p:sp>
      <p:sp>
        <p:nvSpPr>
          <p:cNvPr id="4" name="Formula head 1"/>
          <p:cNvSpPr txBox="1"/>
          <p:nvPr/>
        </p:nvSpPr>
        <p:spPr>
          <a:xfrm>
            <a:off x="644652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400" b="1" dirty="0">
                <a:solidFill>
                  <a:schemeClr val="bg1"/>
                </a:solidFill>
              </a:rPr>
              <a:t>فعل قوي</a:t>
            </a:r>
            <a:endParaRPr lang="ar-EG" sz="2400" dirty="0"/>
          </a:p>
        </p:txBody>
      </p:sp>
      <p:sp>
        <p:nvSpPr>
          <p:cNvPr id="5" name="Formula sub 1"/>
          <p:cNvSpPr txBox="1"/>
          <p:nvPr/>
        </p:nvSpPr>
        <p:spPr>
          <a:xfrm>
            <a:off x="64465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2"/>
                </a:solidFill>
              </a:rPr>
              <a:t>صممت · نظّمت · زوّدت</a:t>
            </a:r>
            <a:endParaRPr lang="ar-EG" sz="1300" dirty="0"/>
          </a:p>
        </p:txBody>
      </p:sp>
      <p:sp>
        <p:nvSpPr>
          <p:cNvPr id="6" name="Formula plus 1"/>
          <p:cNvSpPr txBox="1"/>
          <p:nvPr/>
        </p:nvSpPr>
        <p:spPr>
          <a:xfrm>
            <a:off x="5715000" y="21031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+</a:t>
            </a:r>
            <a:endParaRPr lang="en-US" sz="3200" dirty="0"/>
          </a:p>
        </p:txBody>
      </p:sp>
      <p:sp>
        <p:nvSpPr>
          <p:cNvPr id="7" name="Formula card 2"/>
          <p:cNvSpPr/>
          <p:nvPr/>
        </p:nvSpPr>
        <p:spPr>
          <a:xfrm>
            <a:off x="3429000" y="155448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8" name="Formula head 2"/>
          <p:cNvSpPr txBox="1"/>
          <p:nvPr/>
        </p:nvSpPr>
        <p:spPr>
          <a:xfrm>
            <a:off x="356616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400" b="1" dirty="0">
                <a:solidFill>
                  <a:schemeClr val="tx1"/>
                </a:solidFill>
              </a:rPr>
              <a:t>اللي عملته</a:t>
            </a:r>
            <a:endParaRPr lang="ar-EG" sz="2400" dirty="0"/>
          </a:p>
        </p:txBody>
      </p:sp>
      <p:sp>
        <p:nvSpPr>
          <p:cNvPr id="9" name="Formula sub 2"/>
          <p:cNvSpPr txBox="1"/>
          <p:nvPr/>
        </p:nvSpPr>
        <p:spPr>
          <a:xfrm>
            <a:off x="356616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1"/>
                </a:solidFill>
              </a:rPr>
              <a:t>المهمة أو المشروع</a:t>
            </a:r>
            <a:endParaRPr lang="ar-EG" sz="1300" dirty="0"/>
          </a:p>
        </p:txBody>
      </p:sp>
      <p:sp>
        <p:nvSpPr>
          <p:cNvPr id="10" name="Formula plus 2"/>
          <p:cNvSpPr txBox="1"/>
          <p:nvPr/>
        </p:nvSpPr>
        <p:spPr>
          <a:xfrm>
            <a:off x="2834640" y="21031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6"/>
                </a:solidFill>
              </a:rPr>
              <a:t>+</a:t>
            </a:r>
            <a:endParaRPr lang="en-US" sz="3200" dirty="0"/>
          </a:p>
        </p:txBody>
      </p:sp>
      <p:sp>
        <p:nvSpPr>
          <p:cNvPr id="11" name="Formula card 3"/>
          <p:cNvSpPr/>
          <p:nvPr/>
        </p:nvSpPr>
        <p:spPr>
          <a:xfrm>
            <a:off x="548640" y="155448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2" name="Formula head 3"/>
          <p:cNvSpPr txBox="1"/>
          <p:nvPr/>
        </p:nvSpPr>
        <p:spPr>
          <a:xfrm>
            <a:off x="685800" y="17830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400" b="1" dirty="0">
                <a:solidFill>
                  <a:schemeClr val="bg1"/>
                </a:solidFill>
              </a:rPr>
              <a:t>النتيجة بالأرقام</a:t>
            </a:r>
            <a:endParaRPr lang="ar-EG" sz="2400" dirty="0"/>
          </a:p>
        </p:txBody>
      </p:sp>
      <p:sp>
        <p:nvSpPr>
          <p:cNvPr id="13" name="Formula sub 3"/>
          <p:cNvSpPr txBox="1"/>
          <p:nvPr/>
        </p:nvSpPr>
        <p:spPr>
          <a:xfrm>
            <a:off x="68580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300" dirty="0">
                <a:solidFill>
                  <a:schemeClr val="accent2"/>
                </a:solidFill>
              </a:rPr>
              <a:t>كام؟ في قد إيه؟ قد إيه؟</a:t>
            </a:r>
            <a:endParaRPr lang="ar-EG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قبل وبعد</a:t>
            </a:r>
            <a:endParaRPr lang="ar-EG" sz="3000" dirty="0"/>
          </a:p>
        </p:txBody>
      </p:sp>
      <p:sp>
        <p:nvSpPr>
          <p:cNvPr id="3" name="Before 1"/>
          <p:cNvSpPr/>
          <p:nvPr/>
        </p:nvSpPr>
        <p:spPr>
          <a:xfrm>
            <a:off x="5669280" y="118872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Before label 1"/>
          <p:cNvSpPr txBox="1"/>
          <p:nvPr/>
        </p:nvSpPr>
        <p:spPr>
          <a:xfrm>
            <a:off x="5852160" y="1298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</a:rPr>
              <a:t>قبل</a:t>
            </a:r>
            <a:endParaRPr lang="ar-EG" sz="1100" dirty="0"/>
          </a:p>
        </p:txBody>
      </p:sp>
      <p:sp>
        <p:nvSpPr>
          <p:cNvPr id="5" name="Before text 1"/>
          <p:cNvSpPr txBox="1"/>
          <p:nvPr/>
        </p:nvSpPr>
        <p:spPr>
          <a:xfrm>
            <a:off x="585216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مسؤول عن السوشيال ميديا لنشاط طلابي</a:t>
            </a:r>
            <a:endParaRPr lang="ar-EG" sz="1400" dirty="0"/>
          </a:p>
        </p:txBody>
      </p:sp>
      <p:sp>
        <p:nvSpPr>
          <p:cNvPr id="6" name="BA arrow 1"/>
          <p:cNvSpPr txBox="1"/>
          <p:nvPr/>
        </p:nvSpPr>
        <p:spPr>
          <a:xfrm>
            <a:off x="52120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←</a:t>
            </a:r>
            <a:endParaRPr lang="en-US" sz="2200" dirty="0"/>
          </a:p>
        </p:txBody>
      </p:sp>
      <p:sp>
        <p:nvSpPr>
          <p:cNvPr id="7" name="After 1"/>
          <p:cNvSpPr/>
          <p:nvPr/>
        </p:nvSpPr>
        <p:spPr>
          <a:xfrm>
            <a:off x="548640" y="1188720"/>
            <a:ext cx="4663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sp>
        <p:nvSpPr>
          <p:cNvPr id="8" name="After label 1"/>
          <p:cNvSpPr txBox="1"/>
          <p:nvPr/>
        </p:nvSpPr>
        <p:spPr>
          <a:xfrm>
            <a:off x="731520" y="12984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بعد</a:t>
            </a:r>
            <a:endParaRPr lang="ar-EG" sz="1100" dirty="0"/>
          </a:p>
        </p:txBody>
      </p:sp>
      <p:sp>
        <p:nvSpPr>
          <p:cNvPr id="9" name="After text 1"/>
          <p:cNvSpPr txBox="1"/>
          <p:nvPr/>
        </p:nvSpPr>
        <p:spPr>
          <a:xfrm>
            <a:off x="731520" y="16002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زوّدت متابعين صفحة النشاط من 800 لـ 2,500 في 4 شهور</a:t>
            </a:r>
            <a:endParaRPr lang="ar-EG" sz="1600" dirty="0"/>
          </a:p>
        </p:txBody>
      </p:sp>
      <p:sp>
        <p:nvSpPr>
          <p:cNvPr id="10" name="Before 2"/>
          <p:cNvSpPr/>
          <p:nvPr/>
        </p:nvSpPr>
        <p:spPr>
          <a:xfrm>
            <a:off x="5669280" y="2788920"/>
            <a:ext cx="2926080" cy="1325880"/>
          </a:xfrm>
          <a:prstGeom prst="roundRect">
            <a:avLst>
              <a:gd name="adj" fmla="val 8276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1" name="Before label 2"/>
          <p:cNvSpPr txBox="1"/>
          <p:nvPr/>
        </p:nvSpPr>
        <p:spPr>
          <a:xfrm>
            <a:off x="5852160" y="2898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tx2"/>
                </a:solidFill>
              </a:rPr>
              <a:t>قبل</a:t>
            </a:r>
            <a:endParaRPr lang="ar-EG" sz="1100" dirty="0"/>
          </a:p>
        </p:txBody>
      </p:sp>
      <p:sp>
        <p:nvSpPr>
          <p:cNvPr id="12" name="Before text 2"/>
          <p:cNvSpPr txBox="1"/>
          <p:nvPr/>
        </p:nvSpPr>
        <p:spPr>
          <a:xfrm>
            <a:off x="5852160" y="32004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400" dirty="0">
                <a:solidFill>
                  <a:schemeClr val="tx2"/>
                </a:solidFill>
              </a:rPr>
              <a:t>عملت مشروع تخرج عن تطبيق موبايل</a:t>
            </a:r>
            <a:endParaRPr lang="ar-EG" sz="1400" dirty="0"/>
          </a:p>
        </p:txBody>
      </p:sp>
      <p:sp>
        <p:nvSpPr>
          <p:cNvPr id="13" name="BA arrow 2"/>
          <p:cNvSpPr txBox="1"/>
          <p:nvPr/>
        </p:nvSpPr>
        <p:spPr>
          <a:xfrm>
            <a:off x="521208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←</a:t>
            </a:r>
            <a:endParaRPr lang="en-US" sz="2200" dirty="0"/>
          </a:p>
        </p:txBody>
      </p:sp>
      <p:sp>
        <p:nvSpPr>
          <p:cNvPr id="14" name="After 2"/>
          <p:cNvSpPr/>
          <p:nvPr/>
        </p:nvSpPr>
        <p:spPr>
          <a:xfrm>
            <a:off x="548640" y="2788920"/>
            <a:ext cx="46634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sp>
        <p:nvSpPr>
          <p:cNvPr id="15" name="After label 2"/>
          <p:cNvSpPr txBox="1"/>
          <p:nvPr/>
        </p:nvSpPr>
        <p:spPr>
          <a:xfrm>
            <a:off x="731520" y="2898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100" b="1" dirty="0">
                <a:solidFill>
                  <a:schemeClr val="accent1"/>
                </a:solidFill>
              </a:rPr>
              <a:t>بعد</a:t>
            </a:r>
            <a:endParaRPr lang="ar-EG" sz="1100" dirty="0"/>
          </a:p>
        </p:txBody>
      </p:sp>
      <p:sp>
        <p:nvSpPr>
          <p:cNvPr id="16" name="After text 2"/>
          <p:cNvSpPr txBox="1"/>
          <p:nvPr/>
        </p:nvSpPr>
        <p:spPr>
          <a:xfrm>
            <a:off x="731520" y="32004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بنيت تطبيق حجز مواعيد بـ Flutter مع فريق من 4، واتجرّب على 60 مستخدم</a:t>
            </a:r>
            <a:endParaRPr lang="ar-EG" sz="1600" dirty="0"/>
          </a:p>
        </p:txBody>
      </p:sp>
      <p:sp>
        <p:nvSpPr>
          <p:cNvPr id="17" name="Fictional note"/>
          <p:cNvSpPr txBox="1"/>
          <p:nvPr/>
        </p:nvSpPr>
        <p:spPr>
          <a:xfrm>
            <a:off x="58521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000" i="1" dirty="0">
                <a:solidFill>
                  <a:schemeClr val="tx2"/>
                </a:solidFill>
              </a:rPr>
              <a:t>أمثلة خيالية</a:t>
            </a:r>
            <a:endParaRPr lang="ar-EG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</a:rPr>
              <a:t>نشاط 4 · 5 دقايق · فردي ثم مع الجار</a:t>
            </a:r>
            <a:endParaRPr lang="ar-EG" sz="13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</a:rPr>
              <a:t>حوّل المهمة لإنجاز</a:t>
            </a:r>
            <a:endParaRPr lang="ar-EG" sz="3000" dirty="0"/>
          </a:p>
        </p:txBody>
      </p:sp>
      <p:sp>
        <p:nvSpPr>
          <p:cNvPr id="4" name="Step card 1"/>
          <p:cNvSpPr/>
          <p:nvPr/>
        </p:nvSpPr>
        <p:spPr>
          <a:xfrm>
            <a:off x="6065520" y="1600200"/>
            <a:ext cx="2529840" cy="1600200"/>
          </a:xfrm>
          <a:prstGeom prst="roundRect">
            <a:avLst>
              <a:gd name="adj" fmla="val 6857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81812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6294120" y="22860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اختار مهمة من الـ 3</a:t>
            </a:r>
            <a:endParaRPr lang="ar-EG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00200"/>
            <a:ext cx="2529840" cy="1600200"/>
          </a:xfrm>
          <a:prstGeom prst="roundRect">
            <a:avLst>
              <a:gd name="adj" fmla="val 6857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505968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2860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اكتبها بالمعادلة</a:t>
            </a:r>
            <a:endParaRPr lang="ar-EG" sz="1500" dirty="0"/>
          </a:p>
        </p:txBody>
      </p:sp>
      <p:sp>
        <p:nvSpPr>
          <p:cNvPr id="10" name="Step card 3"/>
          <p:cNvSpPr/>
          <p:nvPr/>
        </p:nvSpPr>
        <p:spPr>
          <a:xfrm>
            <a:off x="548640" y="1600200"/>
            <a:ext cx="2529840" cy="1600200"/>
          </a:xfrm>
          <a:prstGeom prst="roundRect">
            <a:avLst>
              <a:gd name="adj" fmla="val 6857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2301240" y="17099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777240" y="2286000"/>
            <a:ext cx="207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الجار يعلّم على الفعل والنتيجة</a:t>
            </a:r>
            <a:endParaRPr lang="ar-EG" sz="1500" dirty="0"/>
          </a:p>
        </p:txBody>
      </p:sp>
      <p:sp>
        <p:nvSpPr>
          <p:cNvPr id="13" name="Activity extra"/>
          <p:cNvSpPr txBox="1"/>
          <p:nvPr/>
        </p:nvSpPr>
        <p:spPr>
          <a:xfrm>
            <a:off x="548640" y="3291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accent3"/>
                </a:solidFill>
              </a:rPr>
              <a:t>المهام: «مسؤول عن تنظيم الفعاليات» · «شاركت في مشروع بحثي» · «عملت تدريب في شركة»</a:t>
            </a:r>
            <a:endParaRPr lang="ar-EG" sz="1300" dirty="0"/>
          </a:p>
        </p:txBody>
      </p:sp>
      <p:sp>
        <p:nvSpPr>
          <p:cNvPr id="14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5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المخرج: إنجاز واحد على الأقل بالمعادلة</a:t>
            </a:r>
            <a:endParaRPr lang="ar-EG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الـ CV والـ ATS: اعمل ومتعملش</a:t>
            </a:r>
            <a:endParaRPr lang="ar-EG" sz="3000" dirty="0"/>
          </a:p>
        </p:txBody>
      </p:sp>
      <p:sp>
        <p:nvSpPr>
          <p:cNvPr id="3" name="اعمل card"/>
          <p:cNvSpPr/>
          <p:nvPr/>
        </p:nvSpPr>
        <p:spPr>
          <a:xfrm>
            <a:off x="4663440" y="11430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اعمل circle"/>
          <p:cNvSpPr/>
          <p:nvPr/>
        </p:nvSpPr>
        <p:spPr>
          <a:xfrm>
            <a:off x="7818120" y="1325880"/>
            <a:ext cx="548640" cy="548640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pic>
        <p:nvPicPr>
          <p:cNvPr id="5" name="اعمل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2" y="1444752"/>
            <a:ext cx="310896" cy="310896"/>
          </a:xfrm>
          <a:prstGeom prst="rect">
            <a:avLst/>
          </a:prstGeom>
        </p:spPr>
      </p:pic>
      <p:sp>
        <p:nvSpPr>
          <p:cNvPr id="6" name="اعمل head"/>
          <p:cNvSpPr txBox="1"/>
          <p:nvPr/>
        </p:nvSpPr>
        <p:spPr>
          <a:xfrm>
            <a:off x="489204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اعمل</a:t>
            </a:r>
            <a:endParaRPr lang="ar-EG" sz="2200" dirty="0"/>
          </a:p>
        </p:txBody>
      </p:sp>
      <p:sp>
        <p:nvSpPr>
          <p:cNvPr id="7" name="اعمل dot 1"/>
          <p:cNvSpPr/>
          <p:nvPr/>
        </p:nvSpPr>
        <p:spPr>
          <a:xfrm>
            <a:off x="8183880" y="225856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8" name="اعمل item 1"/>
          <p:cNvSpPr txBox="1"/>
          <p:nvPr/>
        </p:nvSpPr>
        <p:spPr>
          <a:xfrm>
            <a:off x="4937760" y="21031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عمود واحد</a:t>
            </a:r>
            <a:endParaRPr lang="ar-EG" sz="1500" dirty="0"/>
          </a:p>
        </p:txBody>
      </p:sp>
      <p:sp>
        <p:nvSpPr>
          <p:cNvPr id="9" name="اعمل dot 2"/>
          <p:cNvSpPr/>
          <p:nvPr/>
        </p:nvSpPr>
        <p:spPr>
          <a:xfrm>
            <a:off x="8183880" y="276148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0" name="اعمل item 2"/>
          <p:cNvSpPr txBox="1"/>
          <p:nvPr/>
        </p:nvSpPr>
        <p:spPr>
          <a:xfrm>
            <a:off x="4937760" y="26060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ملف PDF أو DOCX</a:t>
            </a:r>
            <a:endParaRPr lang="ar-EG" sz="1500" dirty="0"/>
          </a:p>
        </p:txBody>
      </p:sp>
      <p:sp>
        <p:nvSpPr>
          <p:cNvPr id="11" name="اعمل dot 3"/>
          <p:cNvSpPr/>
          <p:nvPr/>
        </p:nvSpPr>
        <p:spPr>
          <a:xfrm>
            <a:off x="8183880" y="326440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2" name="اعمل item 3"/>
          <p:cNvSpPr txBox="1"/>
          <p:nvPr/>
        </p:nvSpPr>
        <p:spPr>
          <a:xfrm>
            <a:off x="4937760" y="31089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عناوين معروفة زي Education و Skills</a:t>
            </a:r>
            <a:endParaRPr lang="ar-EG" sz="1500" dirty="0"/>
          </a:p>
        </p:txBody>
      </p:sp>
      <p:sp>
        <p:nvSpPr>
          <p:cNvPr id="13" name="اعمل dot 4"/>
          <p:cNvSpPr/>
          <p:nvPr/>
        </p:nvSpPr>
        <p:spPr>
          <a:xfrm>
            <a:off x="8183880" y="376732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14" name="اعمل item 4"/>
          <p:cNvSpPr txBox="1"/>
          <p:nvPr/>
        </p:nvSpPr>
        <p:spPr>
          <a:xfrm>
            <a:off x="4937760" y="3611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كلمات مفتاحية من الإعلان، لو عندك فعلًا</a:t>
            </a:r>
            <a:endParaRPr lang="ar-EG" sz="1500" dirty="0"/>
          </a:p>
        </p:txBody>
      </p:sp>
      <p:sp>
        <p:nvSpPr>
          <p:cNvPr id="15" name="متعملش card"/>
          <p:cNvSpPr/>
          <p:nvPr/>
        </p:nvSpPr>
        <p:spPr>
          <a:xfrm>
            <a:off x="548640" y="1143000"/>
            <a:ext cx="39319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متعملش circle"/>
          <p:cNvSpPr/>
          <p:nvPr/>
        </p:nvSpPr>
        <p:spPr>
          <a:xfrm>
            <a:off x="3703320" y="1325880"/>
            <a:ext cx="548640" cy="548640"/>
          </a:xfrm>
          <a:prstGeom prst="ellipse">
            <a:avLst/>
          </a:prstGeom>
          <a:solidFill>
            <a:srgbClr val="B4472F"/>
          </a:solidFill>
          <a:ln w="12700">
            <a:solidFill>
              <a:srgbClr val="B4472F"/>
            </a:solidFill>
            <a:prstDash val="solid"/>
          </a:ln>
        </p:spPr>
      </p:sp>
      <p:pic>
        <p:nvPicPr>
          <p:cNvPr id="17" name="متعملش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444752"/>
            <a:ext cx="310896" cy="310896"/>
          </a:xfrm>
          <a:prstGeom prst="rect">
            <a:avLst/>
          </a:prstGeom>
        </p:spPr>
      </p:pic>
      <p:sp>
        <p:nvSpPr>
          <p:cNvPr id="18" name="متعملش head"/>
          <p:cNvSpPr txBox="1"/>
          <p:nvPr/>
        </p:nvSpPr>
        <p:spPr>
          <a:xfrm>
            <a:off x="777240" y="1325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200" b="1" dirty="0">
                <a:solidFill>
                  <a:schemeClr val="tx1"/>
                </a:solidFill>
              </a:rPr>
              <a:t>متعملش</a:t>
            </a:r>
            <a:endParaRPr lang="ar-EG" sz="2200" dirty="0"/>
          </a:p>
        </p:txBody>
      </p:sp>
      <p:sp>
        <p:nvSpPr>
          <p:cNvPr id="19" name="متعملش dot 1"/>
          <p:cNvSpPr/>
          <p:nvPr/>
        </p:nvSpPr>
        <p:spPr>
          <a:xfrm>
            <a:off x="4069080" y="225856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0" name="متعملش item 1"/>
          <p:cNvSpPr txBox="1"/>
          <p:nvPr/>
        </p:nvSpPr>
        <p:spPr>
          <a:xfrm>
            <a:off x="822960" y="210312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جداول أو عمودين</a:t>
            </a:r>
            <a:endParaRPr lang="ar-EG" sz="1500" dirty="0"/>
          </a:p>
        </p:txBody>
      </p:sp>
      <p:sp>
        <p:nvSpPr>
          <p:cNvPr id="21" name="متعملش dot 2"/>
          <p:cNvSpPr/>
          <p:nvPr/>
        </p:nvSpPr>
        <p:spPr>
          <a:xfrm>
            <a:off x="4069080" y="276148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2" name="متعملش item 2"/>
          <p:cNvSpPr txBox="1"/>
          <p:nvPr/>
        </p:nvSpPr>
        <p:spPr>
          <a:xfrm>
            <a:off x="822960" y="260604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صورة أو أيقونات مكان العناوين</a:t>
            </a:r>
            <a:endParaRPr lang="ar-EG" sz="1500" dirty="0"/>
          </a:p>
        </p:txBody>
      </p:sp>
      <p:sp>
        <p:nvSpPr>
          <p:cNvPr id="23" name="متعملش dot 3"/>
          <p:cNvSpPr/>
          <p:nvPr/>
        </p:nvSpPr>
        <p:spPr>
          <a:xfrm>
            <a:off x="4069080" y="326440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4" name="متعملش item 3"/>
          <p:cNvSpPr txBox="1"/>
          <p:nvPr/>
        </p:nvSpPr>
        <p:spPr>
          <a:xfrm>
            <a:off x="822960" y="310896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CV محفوظ كصورة</a:t>
            </a:r>
            <a:endParaRPr lang="ar-EG" sz="1500" dirty="0"/>
          </a:p>
        </p:txBody>
      </p:sp>
      <p:sp>
        <p:nvSpPr>
          <p:cNvPr id="25" name="متعملش dot 4"/>
          <p:cNvSpPr/>
          <p:nvPr/>
        </p:nvSpPr>
        <p:spPr>
          <a:xfrm>
            <a:off x="4069080" y="3767328"/>
            <a:ext cx="109728" cy="109728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sp>
        <p:nvSpPr>
          <p:cNvPr id="26" name="متعملش item 4"/>
          <p:cNvSpPr txBox="1"/>
          <p:nvPr/>
        </p:nvSpPr>
        <p:spPr>
          <a:xfrm>
            <a:off x="822960" y="3611880"/>
            <a:ext cx="3108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خطوط غريبة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eak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822960" cy="822960"/>
          </a:xfrm>
          <a:prstGeom prst="rect">
            <a:avLst/>
          </a:prstGeom>
        </p:spPr>
      </p:pic>
      <p:sp>
        <p:nvSpPr>
          <p:cNvPr id="3" name="Break minutes"/>
          <p:cNvSpPr txBox="1"/>
          <p:nvPr/>
        </p:nvSpPr>
        <p:spPr>
          <a:xfrm>
            <a:off x="6217920" y="192024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600" b="1" dirty="0">
                <a:solidFill>
                  <a:schemeClr val="accent2"/>
                </a:solidFill>
              </a:rPr>
              <a:t>15</a:t>
            </a:r>
            <a:endParaRPr lang="en-US" sz="9600" dirty="0"/>
          </a:p>
        </p:txBody>
      </p:sp>
      <p:sp>
        <p:nvSpPr>
          <p:cNvPr id="4" name="Break label"/>
          <p:cNvSpPr txBox="1"/>
          <p:nvPr/>
        </p:nvSpPr>
        <p:spPr>
          <a:xfrm>
            <a:off x="1645920" y="2286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200" b="1" dirty="0">
                <a:solidFill>
                  <a:schemeClr val="bg1"/>
                </a:solidFill>
              </a:rPr>
              <a:t>دقيقة بريك</a:t>
            </a:r>
            <a:endParaRPr lang="ar-EG" sz="3200" dirty="0"/>
          </a:p>
        </p:txBody>
      </p:sp>
      <p:sp>
        <p:nvSpPr>
          <p:cNvPr id="5" name="Break next"/>
          <p:cNvSpPr txBox="1"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900" dirty="0">
                <a:solidFill>
                  <a:schemeClr val="accent3"/>
                </a:solidFill>
              </a:rPr>
              <a:t>بعدها هنكتب الـ CV بتاعك</a:t>
            </a:r>
            <a:endParaRPr lang="ar-EG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vity eyebrow"/>
          <p:cNvSpPr txBox="1"/>
          <p:nvPr/>
        </p:nvSpPr>
        <p:spPr>
          <a:xfrm>
            <a:off x="548640" y="411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b="1" dirty="0">
                <a:solidFill>
                  <a:schemeClr val="accent2"/>
                </a:solidFill>
              </a:rPr>
              <a:t>تطبيق · 45 دقيقة · فردي</a:t>
            </a:r>
            <a:endParaRPr lang="ar-EG" sz="1300" dirty="0"/>
          </a:p>
        </p:txBody>
      </p:sp>
      <p:sp>
        <p:nvSpPr>
          <p:cNvPr id="3" name="Activity title"/>
          <p:cNvSpPr txBox="1"/>
          <p:nvPr/>
        </p:nvSpPr>
        <p:spPr>
          <a:xfrm>
            <a:off x="548640" y="777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bg1"/>
                </a:solidFill>
              </a:rPr>
              <a:t>أعد كتابة الـ CV بتاعك</a:t>
            </a:r>
            <a:endParaRPr lang="ar-EG" sz="3000" dirty="0"/>
          </a:p>
        </p:txBody>
      </p:sp>
      <p:sp>
        <p:nvSpPr>
          <p:cNvPr id="4" name="Step card 1"/>
          <p:cNvSpPr/>
          <p:nvPr/>
        </p:nvSpPr>
        <p:spPr>
          <a:xfrm>
            <a:off x="606552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5" name="Step num 1"/>
          <p:cNvSpPr txBox="1"/>
          <p:nvPr/>
        </p:nvSpPr>
        <p:spPr>
          <a:xfrm>
            <a:off x="781812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tep text 1"/>
          <p:cNvSpPr txBox="1"/>
          <p:nvPr/>
        </p:nvSpPr>
        <p:spPr>
          <a:xfrm>
            <a:off x="629412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رتّب الأقسام</a:t>
            </a:r>
            <a:endParaRPr lang="ar-EG" sz="1500" dirty="0"/>
          </a:p>
        </p:txBody>
      </p:sp>
      <p:sp>
        <p:nvSpPr>
          <p:cNvPr id="7" name="Step card 2"/>
          <p:cNvSpPr/>
          <p:nvPr/>
        </p:nvSpPr>
        <p:spPr>
          <a:xfrm>
            <a:off x="330708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8" name="Step num 2"/>
          <p:cNvSpPr txBox="1"/>
          <p:nvPr/>
        </p:nvSpPr>
        <p:spPr>
          <a:xfrm>
            <a:off x="505968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Step text 2"/>
          <p:cNvSpPr txBox="1"/>
          <p:nvPr/>
        </p:nvSpPr>
        <p:spPr>
          <a:xfrm>
            <a:off x="353568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اكتب 3 إنجازات بالمعادلة</a:t>
            </a:r>
            <a:endParaRPr lang="ar-EG" sz="1500" dirty="0"/>
          </a:p>
        </p:txBody>
      </p:sp>
      <p:sp>
        <p:nvSpPr>
          <p:cNvPr id="10" name="Step card 3"/>
          <p:cNvSpPr/>
          <p:nvPr/>
        </p:nvSpPr>
        <p:spPr>
          <a:xfrm>
            <a:off x="548640" y="1691640"/>
            <a:ext cx="2529840" cy="1828800"/>
          </a:xfrm>
          <a:prstGeom prst="roundRect">
            <a:avLst>
              <a:gd name="adj" fmla="val 6000"/>
            </a:avLst>
          </a:prstGeom>
          <a:solidFill>
            <a:srgbClr val="1B3150"/>
          </a:solidFill>
          <a:ln w="12700">
            <a:solidFill>
              <a:srgbClr val="1B3150"/>
            </a:solidFill>
            <a:prstDash val="solid"/>
          </a:ln>
        </p:spPr>
      </p:sp>
      <p:sp>
        <p:nvSpPr>
          <p:cNvPr id="11" name="Step num 3"/>
          <p:cNvSpPr txBox="1"/>
          <p:nvPr/>
        </p:nvSpPr>
        <p:spPr>
          <a:xfrm>
            <a:off x="2301240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Step text 3"/>
          <p:cNvSpPr txBox="1"/>
          <p:nvPr/>
        </p:nvSpPr>
        <p:spPr>
          <a:xfrm>
            <a:off x="777240" y="2377440"/>
            <a:ext cx="207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bg1"/>
                </a:solidFill>
              </a:rPr>
              <a:t>اكتب الملخص وشيل اللي بيكسر الـ ATS</a:t>
            </a:r>
            <a:endParaRPr lang="ar-EG" sz="1500" dirty="0"/>
          </a:p>
        </p:txBody>
      </p:sp>
      <p:sp>
        <p:nvSpPr>
          <p:cNvPr id="13" name="Outcome pill"/>
          <p:cNvSpPr/>
          <p:nvPr/>
        </p:nvSpPr>
        <p:spPr>
          <a:xfrm>
            <a:off x="548640" y="38404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F0B44C"/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14" name="Outcome"/>
          <p:cNvSpPr txBox="1"/>
          <p:nvPr/>
        </p:nvSpPr>
        <p:spPr>
          <a:xfrm>
            <a:off x="822960" y="38404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b="1" dirty="0">
                <a:solidFill>
                  <a:schemeClr val="tx1"/>
                </a:solidFill>
              </a:rPr>
              <a:t>المخرج: CV صفحة واحدة جاهز للمراجعة</a:t>
            </a:r>
            <a:endParaRPr lang="ar-EG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مراجعة الزميل · 10 دقايق</a:t>
            </a:r>
            <a:endParaRPr lang="ar-EG" sz="3000" dirty="0"/>
          </a:p>
        </p:txBody>
      </p:sp>
      <p:sp>
        <p:nvSpPr>
          <p:cNvPr id="3" name="Check 1"/>
          <p:cNvSpPr/>
          <p:nvPr/>
        </p:nvSpPr>
        <p:spPr>
          <a:xfrm>
            <a:off x="4663440" y="1143000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Check num 1"/>
          <p:cNvSpPr txBox="1"/>
          <p:nvPr/>
        </p:nvSpPr>
        <p:spPr>
          <a:xfrm>
            <a:off x="8046720" y="114300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Check text 1"/>
          <p:cNvSpPr txBox="1"/>
          <p:nvPr/>
        </p:nvSpPr>
        <p:spPr>
          <a:xfrm>
            <a:off x="4846320" y="11430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صفحة واحدة</a:t>
            </a:r>
            <a:endParaRPr lang="ar-EG" sz="1500" dirty="0"/>
          </a:p>
        </p:txBody>
      </p:sp>
      <p:sp>
        <p:nvSpPr>
          <p:cNvPr id="6" name="Check 2"/>
          <p:cNvSpPr/>
          <p:nvPr/>
        </p:nvSpPr>
        <p:spPr>
          <a:xfrm>
            <a:off x="4663440" y="1764792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Check num 2"/>
          <p:cNvSpPr txBox="1"/>
          <p:nvPr/>
        </p:nvSpPr>
        <p:spPr>
          <a:xfrm>
            <a:off x="8046720" y="176479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Check text 2"/>
          <p:cNvSpPr txBox="1"/>
          <p:nvPr/>
        </p:nvSpPr>
        <p:spPr>
          <a:xfrm>
            <a:off x="4846320" y="17647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الاسم والتواصل فوق</a:t>
            </a:r>
            <a:endParaRPr lang="ar-EG" sz="1500" dirty="0"/>
          </a:p>
        </p:txBody>
      </p:sp>
      <p:sp>
        <p:nvSpPr>
          <p:cNvPr id="9" name="Check 3"/>
          <p:cNvSpPr/>
          <p:nvPr/>
        </p:nvSpPr>
        <p:spPr>
          <a:xfrm>
            <a:off x="4663440" y="2386584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sp>
        <p:nvSpPr>
          <p:cNvPr id="10" name="Check num 3"/>
          <p:cNvSpPr txBox="1"/>
          <p:nvPr/>
        </p:nvSpPr>
        <p:spPr>
          <a:xfrm>
            <a:off x="8046720" y="238658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Check text 3"/>
          <p:cNvSpPr txBox="1"/>
          <p:nvPr/>
        </p:nvSpPr>
        <p:spPr>
          <a:xfrm>
            <a:off x="4846320" y="23865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ملخص محدد</a:t>
            </a:r>
            <a:endParaRPr lang="ar-EG" sz="1500" dirty="0"/>
          </a:p>
        </p:txBody>
      </p:sp>
      <p:sp>
        <p:nvSpPr>
          <p:cNvPr id="12" name="Check 4"/>
          <p:cNvSpPr/>
          <p:nvPr/>
        </p:nvSpPr>
        <p:spPr>
          <a:xfrm>
            <a:off x="4663440" y="3008376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3" name="Check num 4"/>
          <p:cNvSpPr txBox="1"/>
          <p:nvPr/>
        </p:nvSpPr>
        <p:spPr>
          <a:xfrm>
            <a:off x="8046720" y="300837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Check text 4"/>
          <p:cNvSpPr txBox="1"/>
          <p:nvPr/>
        </p:nvSpPr>
        <p:spPr>
          <a:xfrm>
            <a:off x="4846320" y="30083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ترتيب الأقسام</a:t>
            </a:r>
            <a:endParaRPr lang="ar-EG" sz="1500" dirty="0"/>
          </a:p>
        </p:txBody>
      </p:sp>
      <p:sp>
        <p:nvSpPr>
          <p:cNvPr id="15" name="Check 5"/>
          <p:cNvSpPr/>
          <p:nvPr/>
        </p:nvSpPr>
        <p:spPr>
          <a:xfrm>
            <a:off x="4663440" y="3630168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sp>
        <p:nvSpPr>
          <p:cNvPr id="16" name="Check num 5"/>
          <p:cNvSpPr txBox="1"/>
          <p:nvPr/>
        </p:nvSpPr>
        <p:spPr>
          <a:xfrm>
            <a:off x="8046720" y="36301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Check text 5"/>
          <p:cNvSpPr txBox="1"/>
          <p:nvPr/>
        </p:nvSpPr>
        <p:spPr>
          <a:xfrm>
            <a:off x="4846320" y="36301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3 إنجازات بالمعادلة</a:t>
            </a:r>
            <a:endParaRPr lang="ar-EG" sz="1500" dirty="0"/>
          </a:p>
        </p:txBody>
      </p:sp>
      <p:sp>
        <p:nvSpPr>
          <p:cNvPr id="18" name="Check 6"/>
          <p:cNvSpPr/>
          <p:nvPr/>
        </p:nvSpPr>
        <p:spPr>
          <a:xfrm>
            <a:off x="548640" y="1143000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9" name="Check num 6"/>
          <p:cNvSpPr txBox="1"/>
          <p:nvPr/>
        </p:nvSpPr>
        <p:spPr>
          <a:xfrm>
            <a:off x="3931920" y="1143000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6</a:t>
            </a:r>
            <a:endParaRPr lang="en-US" sz="1400" dirty="0"/>
          </a:p>
        </p:txBody>
      </p:sp>
      <p:sp>
        <p:nvSpPr>
          <p:cNvPr id="20" name="Check text 6"/>
          <p:cNvSpPr txBox="1"/>
          <p:nvPr/>
        </p:nvSpPr>
        <p:spPr>
          <a:xfrm>
            <a:off x="731520" y="114300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رقم واحد على الأقل</a:t>
            </a:r>
            <a:endParaRPr lang="ar-EG" sz="1500" dirty="0"/>
          </a:p>
        </p:txBody>
      </p:sp>
      <p:sp>
        <p:nvSpPr>
          <p:cNvPr id="21" name="Check 7"/>
          <p:cNvSpPr/>
          <p:nvPr/>
        </p:nvSpPr>
        <p:spPr>
          <a:xfrm>
            <a:off x="548640" y="1764792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2" name="Check num 7"/>
          <p:cNvSpPr txBox="1"/>
          <p:nvPr/>
        </p:nvSpPr>
        <p:spPr>
          <a:xfrm>
            <a:off x="3931920" y="1764792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</a:t>
            </a:r>
            <a:endParaRPr lang="en-US" sz="1400" dirty="0"/>
          </a:p>
        </p:txBody>
      </p:sp>
      <p:sp>
        <p:nvSpPr>
          <p:cNvPr id="23" name="Check text 7"/>
          <p:cNvSpPr txBox="1"/>
          <p:nvPr/>
        </p:nvSpPr>
        <p:spPr>
          <a:xfrm>
            <a:off x="731520" y="176479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كل إنجاز بيبدأ بفعل</a:t>
            </a:r>
            <a:endParaRPr lang="ar-EG" sz="1500" dirty="0"/>
          </a:p>
        </p:txBody>
      </p:sp>
      <p:sp>
        <p:nvSpPr>
          <p:cNvPr id="24" name="Check 8"/>
          <p:cNvSpPr/>
          <p:nvPr/>
        </p:nvSpPr>
        <p:spPr>
          <a:xfrm>
            <a:off x="548640" y="2386584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25400">
            <a:solidFill>
              <a:srgbClr val="1F5FC9"/>
            </a:solidFill>
            <a:prstDash val="solid"/>
          </a:ln>
        </p:spPr>
      </p:sp>
      <p:sp>
        <p:nvSpPr>
          <p:cNvPr id="25" name="Check num 8"/>
          <p:cNvSpPr txBox="1"/>
          <p:nvPr/>
        </p:nvSpPr>
        <p:spPr>
          <a:xfrm>
            <a:off x="3931920" y="2386584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8</a:t>
            </a:r>
            <a:endParaRPr lang="en-US" sz="1400" dirty="0"/>
          </a:p>
        </p:txBody>
      </p:sp>
      <p:sp>
        <p:nvSpPr>
          <p:cNvPr id="26" name="Check text 8"/>
          <p:cNvSpPr txBox="1"/>
          <p:nvPr/>
        </p:nvSpPr>
        <p:spPr>
          <a:xfrm>
            <a:off x="731520" y="238658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tx1"/>
                </a:solidFill>
              </a:rPr>
              <a:t>من غير صور وجداول</a:t>
            </a:r>
            <a:endParaRPr lang="ar-EG" sz="1500" dirty="0"/>
          </a:p>
        </p:txBody>
      </p:sp>
      <p:sp>
        <p:nvSpPr>
          <p:cNvPr id="27" name="Check 9"/>
          <p:cNvSpPr/>
          <p:nvPr/>
        </p:nvSpPr>
        <p:spPr>
          <a:xfrm>
            <a:off x="548640" y="3008376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28" name="Check num 9"/>
          <p:cNvSpPr txBox="1"/>
          <p:nvPr/>
        </p:nvSpPr>
        <p:spPr>
          <a:xfrm>
            <a:off x="3931920" y="3008376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Check text 9"/>
          <p:cNvSpPr txBox="1"/>
          <p:nvPr/>
        </p:nvSpPr>
        <p:spPr>
          <a:xfrm>
            <a:off x="731520" y="300837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عناوين أقسام واضحة</a:t>
            </a:r>
            <a:endParaRPr lang="ar-EG" sz="1500" dirty="0"/>
          </a:p>
        </p:txBody>
      </p:sp>
      <p:sp>
        <p:nvSpPr>
          <p:cNvPr id="30" name="Check 10"/>
          <p:cNvSpPr/>
          <p:nvPr/>
        </p:nvSpPr>
        <p:spPr>
          <a:xfrm>
            <a:off x="548640" y="3630168"/>
            <a:ext cx="3931920" cy="512064"/>
          </a:xfrm>
          <a:prstGeom prst="roundRect">
            <a:avLst>
              <a:gd name="adj" fmla="val 21429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31" name="Check num 10"/>
          <p:cNvSpPr txBox="1"/>
          <p:nvPr/>
        </p:nvSpPr>
        <p:spPr>
          <a:xfrm>
            <a:off x="3931920" y="3630168"/>
            <a:ext cx="365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10</a:t>
            </a:r>
            <a:endParaRPr lang="en-US" sz="1400" dirty="0"/>
          </a:p>
        </p:txBody>
      </p:sp>
      <p:sp>
        <p:nvSpPr>
          <p:cNvPr id="32" name="Check text 10"/>
          <p:cNvSpPr txBox="1"/>
          <p:nvPr/>
        </p:nvSpPr>
        <p:spPr>
          <a:xfrm>
            <a:off x="731520" y="363016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dirty="0">
                <a:solidFill>
                  <a:schemeClr val="tx1"/>
                </a:solidFill>
              </a:rPr>
              <a:t>من غير أخطاء إملائية</a:t>
            </a:r>
            <a:endParaRPr lang="ar-EG" sz="1500" dirty="0"/>
          </a:p>
        </p:txBody>
      </p:sp>
      <p:sp>
        <p:nvSpPr>
          <p:cNvPr id="33" name="Check note"/>
          <p:cNvSpPr txBox="1"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200" b="1" dirty="0">
                <a:solidFill>
                  <a:schemeClr val="accent1"/>
                </a:solidFill>
              </a:rPr>
              <a:t>المحدّد بالأزرق هو الأهم: لو ناقص، عدّل قبل ما تمشي</a:t>
            </a:r>
            <a:endParaRPr lang="ar-EG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تذكرة الخروج (Exit ticket)</a:t>
            </a:r>
            <a:endParaRPr lang="ar-EG" sz="3000" dirty="0"/>
          </a:p>
        </p:txBody>
      </p:sp>
      <p:sp>
        <p:nvSpPr>
          <p:cNvPr id="3" name="Exit stat 1"/>
          <p:cNvSpPr/>
          <p:nvPr/>
        </p:nvSpPr>
        <p:spPr>
          <a:xfrm>
            <a:off x="608076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4" name="Exit num 1"/>
          <p:cNvSpPr txBox="1"/>
          <p:nvPr/>
        </p:nvSpPr>
        <p:spPr>
          <a:xfrm>
            <a:off x="608076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3</a:t>
            </a:r>
            <a:endParaRPr lang="en-US" sz="6000" dirty="0"/>
          </a:p>
        </p:txBody>
      </p:sp>
      <p:sp>
        <p:nvSpPr>
          <p:cNvPr id="5" name="Exit label 1"/>
          <p:cNvSpPr txBox="1"/>
          <p:nvPr/>
        </p:nvSpPr>
        <p:spPr>
          <a:xfrm>
            <a:off x="608076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dirty="0">
                <a:solidFill>
                  <a:schemeClr val="tx2"/>
                </a:solidFill>
              </a:rPr>
              <a:t>أسئلة</a:t>
            </a:r>
            <a:endParaRPr lang="ar-EG" sz="1800" dirty="0"/>
          </a:p>
        </p:txBody>
      </p:sp>
      <p:sp>
        <p:nvSpPr>
          <p:cNvPr id="6" name="Exit stat 2"/>
          <p:cNvSpPr/>
          <p:nvPr/>
        </p:nvSpPr>
        <p:spPr>
          <a:xfrm>
            <a:off x="338328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7" name="Exit num 2"/>
          <p:cNvSpPr txBox="1"/>
          <p:nvPr/>
        </p:nvSpPr>
        <p:spPr>
          <a:xfrm>
            <a:off x="338328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</a:t>
            </a:r>
            <a:endParaRPr lang="en-US" sz="6000" dirty="0"/>
          </a:p>
        </p:txBody>
      </p:sp>
      <p:sp>
        <p:nvSpPr>
          <p:cNvPr id="8" name="Exit label 2"/>
          <p:cNvSpPr txBox="1"/>
          <p:nvPr/>
        </p:nvSpPr>
        <p:spPr>
          <a:xfrm>
            <a:off x="338328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dirty="0">
                <a:solidFill>
                  <a:schemeClr val="tx2"/>
                </a:solidFill>
              </a:rPr>
              <a:t>دقايق</a:t>
            </a:r>
            <a:endParaRPr lang="ar-EG" sz="1800" dirty="0"/>
          </a:p>
        </p:txBody>
      </p:sp>
      <p:sp>
        <p:nvSpPr>
          <p:cNvPr id="9" name="Exit stat 3"/>
          <p:cNvSpPr/>
          <p:nvPr/>
        </p:nvSpPr>
        <p:spPr>
          <a:xfrm>
            <a:off x="685800" y="1371600"/>
            <a:ext cx="25146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0" name="Exit num 3"/>
          <p:cNvSpPr txBox="1"/>
          <p:nvPr/>
        </p:nvSpPr>
        <p:spPr>
          <a:xfrm>
            <a:off x="685800" y="15544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0</a:t>
            </a:r>
            <a:endParaRPr lang="en-US" sz="6000" dirty="0"/>
          </a:p>
        </p:txBody>
      </p:sp>
      <p:sp>
        <p:nvSpPr>
          <p:cNvPr id="11" name="Exit label 3"/>
          <p:cNvSpPr txBox="1"/>
          <p:nvPr/>
        </p:nvSpPr>
        <p:spPr>
          <a:xfrm>
            <a:off x="685800" y="2651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800" dirty="0">
                <a:solidFill>
                  <a:schemeClr val="tx2"/>
                </a:solidFill>
              </a:rPr>
              <a:t>درجات</a:t>
            </a:r>
            <a:endParaRPr lang="ar-EG" sz="1800" dirty="0"/>
          </a:p>
        </p:txBody>
      </p:sp>
      <p:sp>
        <p:nvSpPr>
          <p:cNvPr id="12" name="Exit instruction"/>
          <p:cNvSpPr txBox="1"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600" dirty="0">
                <a:solidFill>
                  <a:schemeClr val="tx1"/>
                </a:solidFill>
              </a:rPr>
              <a:t>جاوب على الورقة؛ ده بيعرّفني إيه اللي محتاج تقوية</a:t>
            </a:r>
            <a:endParaRPr lang="ar-EG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اللي اتعلمناه النهارده</a:t>
            </a:r>
            <a:endParaRPr lang="ar-EG" sz="3000" dirty="0"/>
          </a:p>
        </p:txBody>
      </p:sp>
      <p:sp>
        <p:nvSpPr>
          <p:cNvPr id="3" name="Recap dot 1"/>
          <p:cNvSpPr/>
          <p:nvPr/>
        </p:nvSpPr>
        <p:spPr>
          <a:xfrm>
            <a:off x="8138160" y="1234440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Recap check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7888" y="1344168"/>
            <a:ext cx="237744" cy="237744"/>
          </a:xfrm>
          <a:prstGeom prst="rect">
            <a:avLst/>
          </a:prstGeom>
        </p:spPr>
      </p:pic>
      <p:sp>
        <p:nvSpPr>
          <p:cNvPr id="5" name="Recap text 1"/>
          <p:cNvSpPr txBox="1"/>
          <p:nvPr/>
        </p:nvSpPr>
        <p:spPr>
          <a:xfrm>
            <a:off x="548640" y="11430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tx1"/>
                </a:solidFill>
              </a:rPr>
              <a:t>الـ CV بيتقري في 6 ثواني</a:t>
            </a:r>
            <a:endParaRPr lang="ar-EG" sz="2000" dirty="0"/>
          </a:p>
        </p:txBody>
      </p:sp>
      <p:sp>
        <p:nvSpPr>
          <p:cNvPr id="6" name="Recap dot 2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7" name="Recap check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2075688"/>
            <a:ext cx="237744" cy="237744"/>
          </a:xfrm>
          <a:prstGeom prst="rect">
            <a:avLst/>
          </a:prstGeom>
        </p:spPr>
      </p:pic>
      <p:sp>
        <p:nvSpPr>
          <p:cNvPr id="8" name="Recap text 2"/>
          <p:cNvSpPr txBox="1"/>
          <p:nvPr/>
        </p:nvSpPr>
        <p:spPr>
          <a:xfrm>
            <a:off x="54864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tx1"/>
                </a:solidFill>
              </a:rPr>
              <a:t>الترتيب: بيانات، ملخص، تعليم، مشاريع، أنشطة، مهارات</a:t>
            </a:r>
            <a:endParaRPr lang="ar-EG" sz="2000" dirty="0"/>
          </a:p>
        </p:txBody>
      </p:sp>
      <p:sp>
        <p:nvSpPr>
          <p:cNvPr id="9" name="Recap dot 3"/>
          <p:cNvSpPr/>
          <p:nvPr/>
        </p:nvSpPr>
        <p:spPr>
          <a:xfrm>
            <a:off x="8138160" y="2697480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10" name="Recap check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807208"/>
            <a:ext cx="237744" cy="237744"/>
          </a:xfrm>
          <a:prstGeom prst="rect">
            <a:avLst/>
          </a:prstGeom>
        </p:spPr>
      </p:pic>
      <p:sp>
        <p:nvSpPr>
          <p:cNvPr id="11" name="Recap text 3"/>
          <p:cNvSpPr txBox="1"/>
          <p:nvPr/>
        </p:nvSpPr>
        <p:spPr>
          <a:xfrm>
            <a:off x="548640" y="2606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tx1"/>
                </a:solidFill>
              </a:rPr>
              <a:t>الإنجاز = فعل + اللي عملته + النتيجة</a:t>
            </a:r>
            <a:endParaRPr lang="ar-EG" sz="2000" dirty="0"/>
          </a:p>
        </p:txBody>
      </p:sp>
      <p:sp>
        <p:nvSpPr>
          <p:cNvPr id="12" name="Recap dot 4"/>
          <p:cNvSpPr/>
          <p:nvPr/>
        </p:nvSpPr>
        <p:spPr>
          <a:xfrm>
            <a:off x="8138160" y="3429000"/>
            <a:ext cx="457200" cy="457200"/>
          </a:xfrm>
          <a:prstGeom prst="ellipse">
            <a:avLst/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13" name="Recap check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3538728"/>
            <a:ext cx="237744" cy="237744"/>
          </a:xfrm>
          <a:prstGeom prst="rect">
            <a:avLst/>
          </a:prstGeom>
        </p:spPr>
      </p:pic>
      <p:sp>
        <p:nvSpPr>
          <p:cNvPr id="14" name="Recap text 4"/>
          <p:cNvSpPr txBox="1"/>
          <p:nvPr/>
        </p:nvSpPr>
        <p:spPr>
          <a:xfrm>
            <a:off x="54864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2000" dirty="0">
                <a:solidFill>
                  <a:schemeClr val="tx1"/>
                </a:solidFill>
              </a:rPr>
              <a:t>البساطة بتعدّي الـ ATS</a:t>
            </a:r>
            <a:endParaRPr lang="ar-EG" sz="2000" dirty="0"/>
          </a:p>
        </p:txBody>
      </p:sp>
      <p:sp>
        <p:nvSpPr>
          <p:cNvPr id="15" name="Homework pill"/>
          <p:cNvSpPr/>
          <p:nvPr/>
        </p:nvSpPr>
        <p:spPr>
          <a:xfrm>
            <a:off x="548640" y="4114800"/>
            <a:ext cx="8046720" cy="457200"/>
          </a:xfrm>
          <a:prstGeom prst="roundRect">
            <a:avLst>
              <a:gd name="adj" fmla="val 50000"/>
            </a:avLst>
          </a:prstGeom>
          <a:solidFill>
            <a:srgbClr val="E9EEF5"/>
          </a:solidFill>
          <a:ln w="12700">
            <a:solidFill>
              <a:srgbClr val="E9EEF5"/>
            </a:solidFill>
            <a:prstDash val="solid"/>
          </a:ln>
        </p:spPr>
      </p:sp>
      <p:sp>
        <p:nvSpPr>
          <p:cNvPr id="16" name="Homework"/>
          <p:cNvSpPr txBox="1"/>
          <p:nvPr/>
        </p:nvSpPr>
        <p:spPr>
          <a:xfrm>
            <a:off x="777240" y="41148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400" b="1" dirty="0">
                <a:solidFill>
                  <a:schemeClr val="tx1"/>
                </a:solidFill>
              </a:rPr>
              <a:t>الواجب: نسخة معدّلة من الـ CV على إعلان وظيفة حقيقي</a:t>
            </a:r>
            <a:endParaRPr lang="ar-EG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A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097280"/>
            <a:ext cx="1005840" cy="1005840"/>
          </a:xfrm>
          <a:prstGeom prst="rect">
            <a:avLst/>
          </a:prstGeom>
        </p:spPr>
      </p:pic>
      <p:sp>
        <p:nvSpPr>
          <p:cNvPr id="3" name="QA title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5800" b="1" dirty="0">
                <a:solidFill>
                  <a:schemeClr val="bg1"/>
                </a:solidFill>
              </a:rPr>
              <a:t>أسئلة؟</a:t>
            </a:r>
            <a:endParaRPr lang="ar-EG" sz="5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3000" b="1" dirty="0">
                <a:solidFill>
                  <a:schemeClr val="tx1"/>
                </a:solidFill>
              </a:rPr>
              <a:t>خلّينا على تواصل</a:t>
            </a:r>
            <a:endParaRPr lang="ar-EG" sz="3000" dirty="0"/>
          </a:p>
        </p:txBody>
      </p:sp>
      <p:sp>
        <p:nvSpPr>
          <p:cNvPr id="3" name="Contact card 1"/>
          <p:cNvSpPr/>
          <p:nvPr/>
        </p:nvSpPr>
        <p:spPr>
          <a:xfrm>
            <a:off x="4663440" y="11430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1F5FC9"/>
          </a:solidFill>
          <a:ln w="12700">
            <a:solidFill>
              <a:srgbClr val="1F5FC9"/>
            </a:solidFill>
            <a:prstDash val="solid"/>
          </a:ln>
        </p:spPr>
      </p:sp>
      <p:pic>
        <p:nvPicPr>
          <p:cNvPr id="4" name="Contac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417320"/>
            <a:ext cx="502920" cy="502920"/>
          </a:xfrm>
          <a:prstGeom prst="rect">
            <a:avLst/>
          </a:prstGeom>
        </p:spPr>
      </p:pic>
      <p:sp>
        <p:nvSpPr>
          <p:cNvPr id="5" name="Contact label 1"/>
          <p:cNvSpPr txBox="1"/>
          <p:nvPr/>
        </p:nvSpPr>
        <p:spPr>
          <a:xfrm>
            <a:off x="48920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LinkedIn</a:t>
            </a:r>
            <a:endParaRPr lang="en-US" sz="1400" dirty="0"/>
          </a:p>
        </p:txBody>
      </p:sp>
      <p:sp>
        <p:nvSpPr>
          <p:cNvPr id="6" name="Contact value 1"/>
          <p:cNvSpPr txBox="1"/>
          <p:nvPr/>
        </p:nvSpPr>
        <p:spPr>
          <a:xfrm>
            <a:off x="48920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[linkedin.com/in/your-handle]</a:t>
            </a:r>
            <a:endParaRPr lang="en-US" sz="1300" dirty="0"/>
          </a:p>
        </p:txBody>
      </p:sp>
      <p:sp>
        <p:nvSpPr>
          <p:cNvPr id="7" name="Contact card 2"/>
          <p:cNvSpPr/>
          <p:nvPr/>
        </p:nvSpPr>
        <p:spPr>
          <a:xfrm>
            <a:off x="548640" y="114300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8" name="Contac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417320"/>
            <a:ext cx="502920" cy="502920"/>
          </a:xfrm>
          <a:prstGeom prst="rect">
            <a:avLst/>
          </a:prstGeom>
        </p:spPr>
      </p:pic>
      <p:sp>
        <p:nvSpPr>
          <p:cNvPr id="9" name="Contact label 2"/>
          <p:cNvSpPr txBox="1"/>
          <p:nvPr/>
        </p:nvSpPr>
        <p:spPr>
          <a:xfrm>
            <a:off x="777240" y="1280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WhatsApp</a:t>
            </a:r>
            <a:endParaRPr lang="en-US" sz="1400" dirty="0"/>
          </a:p>
        </p:txBody>
      </p:sp>
      <p:sp>
        <p:nvSpPr>
          <p:cNvPr id="10" name="Contact value 2"/>
          <p:cNvSpPr txBox="1"/>
          <p:nvPr/>
        </p:nvSpPr>
        <p:spPr>
          <a:xfrm>
            <a:off x="777240" y="1645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2"/>
                </a:solidFill>
              </a:rPr>
              <a:t>[رقم الموبايل]</a:t>
            </a:r>
            <a:endParaRPr lang="ar-EG" sz="1300" dirty="0"/>
          </a:p>
        </p:txBody>
      </p:sp>
      <p:sp>
        <p:nvSpPr>
          <p:cNvPr id="11" name="Contact card 3"/>
          <p:cNvSpPr/>
          <p:nvPr/>
        </p:nvSpPr>
        <p:spPr>
          <a:xfrm>
            <a:off x="4663440" y="237744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12" name="Contac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651760"/>
            <a:ext cx="502920" cy="502920"/>
          </a:xfrm>
          <a:prstGeom prst="rect">
            <a:avLst/>
          </a:prstGeom>
        </p:spPr>
      </p:pic>
      <p:sp>
        <p:nvSpPr>
          <p:cNvPr id="13" name="Contact label 3"/>
          <p:cNvSpPr txBox="1"/>
          <p:nvPr/>
        </p:nvSpPr>
        <p:spPr>
          <a:xfrm>
            <a:off x="48920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Email</a:t>
            </a:r>
            <a:endParaRPr lang="en-US" sz="1400" dirty="0"/>
          </a:p>
        </p:txBody>
      </p:sp>
      <p:sp>
        <p:nvSpPr>
          <p:cNvPr id="14" name="Contact value 3"/>
          <p:cNvSpPr txBox="1"/>
          <p:nvPr/>
        </p:nvSpPr>
        <p:spPr>
          <a:xfrm>
            <a:off x="48920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300" dirty="0">
                <a:solidFill>
                  <a:schemeClr val="tx2"/>
                </a:solidFill>
              </a:rPr>
              <a:t>[الإيميل]</a:t>
            </a:r>
            <a:endParaRPr lang="ar-EG" sz="1300" dirty="0"/>
          </a:p>
        </p:txBody>
      </p:sp>
      <p:sp>
        <p:nvSpPr>
          <p:cNvPr id="15" name="Contact card 4"/>
          <p:cNvSpPr/>
          <p:nvPr/>
        </p:nvSpPr>
        <p:spPr>
          <a:xfrm>
            <a:off x="548640" y="2377440"/>
            <a:ext cx="3931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9EEF5"/>
            </a:solidFill>
            <a:prstDash val="solid"/>
          </a:ln>
        </p:spPr>
      </p:sp>
      <p:pic>
        <p:nvPicPr>
          <p:cNvPr id="16" name="Contact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2651760"/>
            <a:ext cx="502920" cy="502920"/>
          </a:xfrm>
          <a:prstGeom prst="rect">
            <a:avLst/>
          </a:prstGeom>
        </p:spPr>
      </p:pic>
      <p:sp>
        <p:nvSpPr>
          <p:cNvPr id="17" name="Contact label 4"/>
          <p:cNvSpPr txBox="1"/>
          <p:nvPr/>
        </p:nvSpPr>
        <p:spPr>
          <a:xfrm>
            <a:off x="777240" y="2514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Portfolio</a:t>
            </a:r>
            <a:endParaRPr lang="en-US" sz="1400" dirty="0"/>
          </a:p>
        </p:txBody>
      </p:sp>
      <p:sp>
        <p:nvSpPr>
          <p:cNvPr id="18" name="Contact value 4"/>
          <p:cNvSpPr txBox="1"/>
          <p:nvPr/>
        </p:nvSpPr>
        <p:spPr>
          <a:xfrm>
            <a:off x="777240" y="2880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[your-site.example]</a:t>
            </a:r>
            <a:endParaRPr lang="en-US" sz="1300" dirty="0"/>
          </a:p>
        </p:txBody>
      </p:sp>
      <p:sp>
        <p:nvSpPr>
          <p:cNvPr id="19" name="Contact CTA"/>
          <p:cNvSpPr txBox="1"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EG" altLang="en-US" sz="1500" b="1" dirty="0">
                <a:solidFill>
                  <a:schemeClr val="accent1"/>
                </a:solidFill>
              </a:rPr>
              <a:t>ابعتلي الـ CV الجديد على LinkedIn بعد ما تعدّله على إعلان حقيقي</a:t>
            </a:r>
            <a:endParaRPr lang="ar-EG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losing backgroun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Deco ring 1"/>
          <p:cNvSpPr/>
          <p:nvPr/>
        </p:nvSpPr>
        <p:spPr>
          <a:xfrm>
            <a:off x="7498080" y="-822960"/>
            <a:ext cx="2377440" cy="2377440"/>
          </a:xfrm>
          <a:prstGeom prst="ellipse">
            <a:avLst/>
          </a:prstGeom>
          <a:solidFill>
            <a:srgbClr val="F0B44C">
              <a:alpha val="0"/>
            </a:srgbClr>
          </a:solidFill>
          <a:ln w="25400">
            <a:solidFill>
              <a:srgbClr val="F0B44C"/>
            </a:solidFill>
            <a:prstDash val="solid"/>
          </a:ln>
        </p:spPr>
      </p:sp>
      <p:sp>
        <p:nvSpPr>
          <p:cNvPr id="4" name="Deco circle 2"/>
          <p:cNvSpPr/>
          <p:nvPr/>
        </p:nvSpPr>
        <p:spPr>
          <a:xfrm>
            <a:off x="-640080" y="3566160"/>
            <a:ext cx="2194560" cy="2194560"/>
          </a:xfrm>
          <a:prstGeom prst="ellipse">
            <a:avLst/>
          </a:prstGeom>
          <a:solidFill>
            <a:srgbClr val="F0B44C">
              <a:alpha val="85000"/>
            </a:srgbClr>
          </a:solidFill>
          <a:ln w="12700">
            <a:solidFill>
              <a:srgbClr val="F0B44C"/>
            </a:solidFill>
            <a:prstDash val="solid"/>
          </a:ln>
        </p:spPr>
      </p:sp>
      <p:sp>
        <p:nvSpPr>
          <p:cNvPr id="5" name="Deco dot 3"/>
          <p:cNvSpPr/>
          <p:nvPr/>
        </p:nvSpPr>
        <p:spPr>
          <a:xfrm>
            <a:off x="548640" y="457200"/>
            <a:ext cx="457200" cy="457200"/>
          </a:xfrm>
          <a:prstGeom prst="ellipse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hank you"/>
          <p:cNvSpPr txBox="1"/>
          <p:nvPr/>
        </p:nvSpPr>
        <p:spPr>
          <a:xfrm>
            <a:off x="731520" y="105156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accent2"/>
                </a:solidFill>
              </a:rPr>
              <a:t>Thank You</a:t>
            </a:r>
            <a:endParaRPr lang="en-US" sz="7200" dirty="0"/>
          </a:p>
        </p:txBody>
      </p:sp>
      <p:sp>
        <p:nvSpPr>
          <p:cNvPr id="7" name="Thanks line"/>
          <p:cNvSpPr txBox="1"/>
          <p:nvPr/>
        </p:nvSpPr>
        <p:spPr>
          <a:xfrm>
            <a:off x="731520" y="2606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2200" dirty="0">
                <a:solidFill>
                  <a:schemeClr val="bg1"/>
                </a:solidFill>
              </a:rPr>
              <a:t>شكرًا لحضوركم، وبالتوفيق في أول وظيفة</a:t>
            </a:r>
            <a:endParaRPr lang="ar-EG" sz="2200" dirty="0"/>
          </a:p>
        </p:txBody>
      </p:sp>
      <p:sp>
        <p:nvSpPr>
          <p:cNvPr id="8" name="Closing name"/>
          <p:cNvSpPr txBox="1"/>
          <p:nvPr/>
        </p:nvSpPr>
        <p:spPr>
          <a:xfrm>
            <a:off x="731520" y="37490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EG" altLang="en-US" sz="1500" dirty="0">
                <a:solidFill>
                  <a:schemeClr val="accent3"/>
                </a:solidFill>
              </a:rPr>
              <a:t>[اسم المدرب]  ·  [مسمى المدرب]</a:t>
            </a:r>
            <a:endParaRPr lang="ar-EG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urse Training Skills">
  <a:themeElements>
    <a:clrScheme name="Course Training Skills">
      <a:dk1>
        <a:srgbClr val="0F1F33"/>
      </a:dk1>
      <a:lt1>
        <a:srgbClr val="FFFFFF"/>
      </a:lt1>
      <a:dk2>
        <a:srgbClr val="3D4A5C"/>
      </a:dk2>
      <a:lt2>
        <a:srgbClr val="F6F4EF"/>
      </a:lt2>
      <a:accent1>
        <a:srgbClr val="1F5FC9"/>
      </a:accent1>
      <a:accent2>
        <a:srgbClr val="F0B44C"/>
      </a:accent2>
      <a:accent3>
        <a:srgbClr val="E9EEF5"/>
      </a:accent3>
      <a:accent4>
        <a:srgbClr val="2E7D5B"/>
      </a:accent4>
      <a:accent5>
        <a:srgbClr val="B4472F"/>
      </a:accent5>
      <a:accent6>
        <a:srgbClr val="8A94A6"/>
      </a:accent6>
      <a:hlink>
        <a:srgbClr val="1F5FC9"/>
      </a:hlink>
      <a:folHlink>
        <a:srgbClr val="5B3FA8"/>
      </a:folHlink>
    </a:clrScheme>
    <a:fontScheme name="Course Training Skills">
      <a:majorFont>
        <a:latin typeface="Cairo"/>
        <a:ea typeface=""/>
        <a:cs typeface="Cairo"/>
        <a:font script="Jpan" typeface="游ゴシック Light"/>
        <a:font script="Hang" typeface="맑은 고딕"/>
        <a:font script="Hans" typeface="等线 Light"/>
        <a:font script="Hant" typeface="新細明體"/>
        <a:font script="Arab" typeface="Cai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IBM Plex Sans Arabic"/>
        <a:font script="Jpan" typeface="游ゴシック"/>
        <a:font script="Hang" typeface="맑은 고딕"/>
        <a:font script="Hans" typeface="等线"/>
        <a:font script="Hant" typeface="新細明體"/>
        <a:font script="Arab" typeface="IBM Plex Sans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الـ CV اللي بيعدّي أول 6 ثواني</dc:title>
  <dc:subject>PptxGenJS Presentation</dc:subject>
  <dc:creator>Course Training Skills</dc:creator>
  <cp:lastModifiedBy>Course Training Skills</cp:lastModifiedBy>
  <cp:revision>1</cp:revision>
  <dcterms:created xsi:type="dcterms:W3CDTF">2026-10-26T12:19:51Z</dcterms:created>
  <dcterms:modified xsi:type="dcterms:W3CDTF">2026-10-26T12:19:51Z</dcterms:modified>
</cp:coreProperties>
</file>