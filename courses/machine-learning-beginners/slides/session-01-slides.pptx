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4d2592fa-2628-3c7f-ef7b-ff726661451d}">
          <p14:sldIdLst>
            <p14:sldId id="256"/>
            <p14:sldId id="257"/>
            <p14:sldId id="258"/>
            <p14:sldId id="259"/>
          </p14:sldIdLst>
        </p14:section>
        <p14:section name="What is ML?" id="{ffda069c-addf-a5d6-e418-ec368cc7dc04}">
          <p14:sldIdLst>
            <p14:sldId id="260"/>
            <p14:sldId id="261"/>
            <p14:sldId id="262"/>
            <p14:sldId id="263"/>
          </p14:sldIdLst>
        </p14:section>
        <p14:section name="Types + workflow" id="{6da70c4d-cf63-0829-8f35-1f4fc5b7bcfe}">
          <p14:sldIdLst>
            <p14:sldId id="264"/>
            <p14:sldId id="265"/>
            <p14:sldId id="266"/>
            <p14:sldId id="267"/>
          </p14:sldIdLst>
        </p14:section>
        <p14:section name="Hands-on" id="{a3baaf06-7506-7fd8-6463-5d540702b933}">
          <p14:sldIdLst>
            <p14:sldId id="268"/>
            <p14:sldId id="269"/>
            <p14:sldId id="270"/>
          </p14:sldIdLst>
        </p14:section>
        <p14:section name="Close" id="{c1b4e491-7648-3881-7203-a6f93bcd1916}">
          <p14:sldIdLst>
            <p14:sldId id="271"/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Welcome; no content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your story out loud in 60 seconds: background, why you teach this, one real ML project you worked on.
The bracketed values come from config/instructor-profile.md and fill in automatically once the profile is completed.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the second hour is hands-on.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you'll come back to these four at the recap.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Session 6 you'll build and present your own classifier — today we lay the foundation.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tax calculator vs. spam filter example live.
Ask: "Can anyone think of a task where writing explicit rules would be really hard?"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back to the traditional-vs-ML comparison just shown.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Clarify: don't guess out loud yet, write your rule down first.
Pause for the activity (15 minutes).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"That's exactly what you just did with the cards."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answer key this time — the model finds groups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"We won't use this again in this course — just know it exists."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"Session 2 is step 1, Sessions 3–5 are steps 2–3, Session 6 is all four."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anyone who hasn't installed Python yet to start the download during the break.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exercises/session-01-exercise.md Hints for common issues (pip3 vs pip, python3 -m jupyter lab, sklearn vs scikit-learn).
Pause for the practical exercise.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 are in assessments/session-01-assessment.md (handed out, not projected).
Collect and skim them before Session 2 to see which objective needs a 2-minute revisit.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Session 2: "Next time — getting our hands on real data with pandas."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 2–3 questions; park longer ones for after the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Encourage them to reach out with setup problems now rather than at the start of Session 2.
Contact values come from config/instructor-profile.md.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them; remind them of the Session 2 preview.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Machine Learning · Session 1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1F5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SESSION 1 OF 6 · IN PERSON · 120 MIN</a:t>
            </a:r>
            <a:endParaRPr lang="en-US" sz="13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13258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What Is Machine Learning?</a:t>
            </a:r>
            <a:endParaRPr lang="en-US" sz="4400" dirty="0"/>
          </a:p>
        </p:txBody>
      </p:sp>
      <p:sp>
        <p:nvSpPr>
          <p:cNvPr id="4" name="Subtitle"/>
          <p:cNvSpPr txBox="1"/>
          <p:nvPr/>
        </p:nvSpPr>
        <p:spPr>
          <a:xfrm>
            <a:off x="548640" y="2514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Machine Learning · Beginner course for university students</a:t>
            </a:r>
            <a:endParaRPr lang="en-US" sz="1800" dirty="0"/>
          </a:p>
        </p:txBody>
      </p:sp>
      <p:sp>
        <p:nvSpPr>
          <p:cNvPr id="5" name="Instructor"/>
          <p:cNvSpPr txBox="1"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[Your full name]  ·  [Date]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Who's teaching</a:t>
            </a:r>
            <a:endParaRPr lang="en-US" sz="3000" dirty="0"/>
          </a:p>
        </p:txBody>
      </p:sp>
      <p:sp>
        <p:nvSpPr>
          <p:cNvPr id="3" name="Intro card 1"/>
          <p:cNvSpPr/>
          <p:nvPr/>
        </p:nvSpPr>
        <p:spPr>
          <a:xfrm>
            <a:off x="548640" y="1188720"/>
            <a:ext cx="8046720" cy="914400"/>
          </a:xfrm>
          <a:prstGeom prst="roundRect">
            <a:avLst>
              <a:gd name="adj" fmla="val 12000"/>
            </a:avLst>
          </a:prstGeom>
          <a:solidFill>
            <a:srgbClr val="0F1F33"/>
          </a:solidFill>
          <a:ln w="12700">
            <a:solidFill>
              <a:srgbClr val="0F1F33"/>
            </a:solidFill>
            <a:prstDash val="solid"/>
          </a:ln>
        </p:spPr>
      </p:sp>
      <p:pic>
        <p:nvPicPr>
          <p:cNvPr id="4" name="Intro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417320"/>
            <a:ext cx="457200" cy="457200"/>
          </a:xfrm>
          <a:prstGeom prst="rect">
            <a:avLst/>
          </a:prstGeom>
        </p:spPr>
      </p:pic>
      <p:sp>
        <p:nvSpPr>
          <p:cNvPr id="5" name="Intro text 1"/>
          <p:cNvSpPr txBox="1"/>
          <p:nvPr/>
        </p:nvSpPr>
        <p:spPr>
          <a:xfrm>
            <a:off x="1600200" y="1298448"/>
            <a:ext cx="6583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[Your full name]</a:t>
            </a:r>
            <a:endParaRPr lang="en-US" sz="2800" dirty="0"/>
          </a:p>
        </p:txBody>
      </p:sp>
      <p:sp>
        <p:nvSpPr>
          <p:cNvPr id="6" name="Intro card 2"/>
          <p:cNvSpPr/>
          <p:nvPr/>
        </p:nvSpPr>
        <p:spPr>
          <a:xfrm>
            <a:off x="548640" y="2267712"/>
            <a:ext cx="80467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1F5FC9"/>
            </a:solidFill>
            <a:prstDash val="solid"/>
          </a:ln>
        </p:spPr>
      </p:sp>
      <p:pic>
        <p:nvPicPr>
          <p:cNvPr id="7" name="Intro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496312"/>
            <a:ext cx="457200" cy="457200"/>
          </a:xfrm>
          <a:prstGeom prst="rect">
            <a:avLst/>
          </a:prstGeom>
        </p:spPr>
      </p:pic>
      <p:sp>
        <p:nvSpPr>
          <p:cNvPr id="8" name="Intro text 2"/>
          <p:cNvSpPr txBox="1"/>
          <p:nvPr/>
        </p:nvSpPr>
        <p:spPr>
          <a:xfrm>
            <a:off x="1600200" y="2377440"/>
            <a:ext cx="6583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[Professional title]</a:t>
            </a:r>
            <a:endParaRPr lang="en-US" sz="2800" dirty="0"/>
          </a:p>
        </p:txBody>
      </p:sp>
      <p:sp>
        <p:nvSpPr>
          <p:cNvPr id="9" name="Intro card 3"/>
          <p:cNvSpPr/>
          <p:nvPr/>
        </p:nvSpPr>
        <p:spPr>
          <a:xfrm>
            <a:off x="548640" y="3346704"/>
            <a:ext cx="8046720" cy="914400"/>
          </a:xfrm>
          <a:prstGeom prst="roundRect">
            <a:avLst>
              <a:gd name="adj" fmla="val 12000"/>
            </a:avLst>
          </a:prstGeom>
          <a:solidFill>
            <a:srgbClr val="F0B44C"/>
          </a:solidFill>
          <a:ln w="12700">
            <a:solidFill>
              <a:srgbClr val="F0B44C"/>
            </a:solidFill>
            <a:prstDash val="solid"/>
          </a:ln>
        </p:spPr>
      </p:sp>
      <p:pic>
        <p:nvPicPr>
          <p:cNvPr id="10" name="Intro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575304"/>
            <a:ext cx="457200" cy="457200"/>
          </a:xfrm>
          <a:prstGeom prst="rect">
            <a:avLst/>
          </a:prstGeom>
        </p:spPr>
      </p:pic>
      <p:sp>
        <p:nvSpPr>
          <p:cNvPr id="11" name="Intro text 3"/>
          <p:cNvSpPr txBox="1"/>
          <p:nvPr/>
        </p:nvSpPr>
        <p:spPr>
          <a:xfrm>
            <a:off x="1600200" y="3456432"/>
            <a:ext cx="6583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[Instructor title]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Today's 120 minutes</a:t>
            </a:r>
            <a:endParaRPr lang="en-US" sz="3000" dirty="0"/>
          </a:p>
        </p:txBody>
      </p:sp>
      <p:sp>
        <p:nvSpPr>
          <p:cNvPr id="3" name="Agenda block 1"/>
          <p:cNvSpPr/>
          <p:nvPr/>
        </p:nvSpPr>
        <p:spPr>
          <a:xfrm>
            <a:off x="548640" y="1463040"/>
            <a:ext cx="1196848" cy="1554480"/>
          </a:xfrm>
          <a:prstGeom prst="roundRect">
            <a:avLst>
              <a:gd name="adj" fmla="val 9168"/>
            </a:avLst>
          </a:prstGeom>
          <a:solidFill>
            <a:srgbClr val="FFFFFF"/>
          </a:solidFill>
          <a:ln w="12700">
            <a:solidFill>
              <a:srgbClr val="E9EEF5"/>
            </a:solidFill>
            <a:prstDash val="solid"/>
          </a:ln>
        </p:spPr>
      </p:sp>
      <p:sp>
        <p:nvSpPr>
          <p:cNvPr id="4" name="Agenda min 1"/>
          <p:cNvSpPr txBox="1"/>
          <p:nvPr/>
        </p:nvSpPr>
        <p:spPr>
          <a:xfrm>
            <a:off x="603504" y="1600200"/>
            <a:ext cx="108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20</a:t>
            </a:r>
            <a:endParaRPr lang="en-US" sz="2400" dirty="0"/>
          </a:p>
        </p:txBody>
      </p:sp>
      <p:sp>
        <p:nvSpPr>
          <p:cNvPr id="5" name="Agenda unit 1"/>
          <p:cNvSpPr txBox="1"/>
          <p:nvPr/>
        </p:nvSpPr>
        <p:spPr>
          <a:xfrm>
            <a:off x="603504" y="2084832"/>
            <a:ext cx="108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min</a:t>
            </a:r>
            <a:endParaRPr lang="en-US" sz="1000" dirty="0"/>
          </a:p>
        </p:txBody>
      </p:sp>
      <p:sp>
        <p:nvSpPr>
          <p:cNvPr id="6" name="Agenda label 1"/>
          <p:cNvSpPr txBox="1"/>
          <p:nvPr/>
        </p:nvSpPr>
        <p:spPr>
          <a:xfrm>
            <a:off x="502920" y="3154680"/>
            <a:ext cx="1288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What is ML?</a:t>
            </a:r>
            <a:endParaRPr lang="en-US" sz="1100" dirty="0"/>
          </a:p>
        </p:txBody>
      </p:sp>
      <p:sp>
        <p:nvSpPr>
          <p:cNvPr id="7" name="Agenda block 2"/>
          <p:cNvSpPr/>
          <p:nvPr/>
        </p:nvSpPr>
        <p:spPr>
          <a:xfrm>
            <a:off x="1800352" y="1463040"/>
            <a:ext cx="897636" cy="1554480"/>
          </a:xfrm>
          <a:prstGeom prst="roundRect">
            <a:avLst>
              <a:gd name="adj" fmla="val 12224"/>
            </a:avLst>
          </a:prstGeom>
          <a:solidFill>
            <a:srgbClr val="FFFFFF"/>
          </a:solidFill>
          <a:ln w="12700">
            <a:solidFill>
              <a:srgbClr val="E9EEF5"/>
            </a:solidFill>
            <a:prstDash val="solid"/>
          </a:ln>
        </p:spPr>
      </p:sp>
      <p:sp>
        <p:nvSpPr>
          <p:cNvPr id="8" name="Agenda min 2"/>
          <p:cNvSpPr txBox="1"/>
          <p:nvPr/>
        </p:nvSpPr>
        <p:spPr>
          <a:xfrm>
            <a:off x="1855216" y="1600200"/>
            <a:ext cx="7879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15</a:t>
            </a:r>
            <a:endParaRPr lang="en-US" sz="2400" dirty="0"/>
          </a:p>
        </p:txBody>
      </p:sp>
      <p:sp>
        <p:nvSpPr>
          <p:cNvPr id="9" name="Agenda unit 2"/>
          <p:cNvSpPr txBox="1"/>
          <p:nvPr/>
        </p:nvSpPr>
        <p:spPr>
          <a:xfrm>
            <a:off x="1855216" y="2084832"/>
            <a:ext cx="7879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min</a:t>
            </a:r>
            <a:endParaRPr lang="en-US" sz="1000" dirty="0"/>
          </a:p>
        </p:txBody>
      </p:sp>
      <p:sp>
        <p:nvSpPr>
          <p:cNvPr id="10" name="Agenda label 2"/>
          <p:cNvSpPr txBox="1"/>
          <p:nvPr/>
        </p:nvSpPr>
        <p:spPr>
          <a:xfrm>
            <a:off x="1754632" y="3154680"/>
            <a:ext cx="9890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Pattern game</a:t>
            </a:r>
            <a:endParaRPr lang="en-US" sz="1100" dirty="0"/>
          </a:p>
        </p:txBody>
      </p:sp>
      <p:sp>
        <p:nvSpPr>
          <p:cNvPr id="11" name="Agenda block 3"/>
          <p:cNvSpPr/>
          <p:nvPr/>
        </p:nvSpPr>
        <p:spPr>
          <a:xfrm>
            <a:off x="2752852" y="1463040"/>
            <a:ext cx="1196848" cy="1554480"/>
          </a:xfrm>
          <a:prstGeom prst="roundRect">
            <a:avLst>
              <a:gd name="adj" fmla="val 9168"/>
            </a:avLst>
          </a:prstGeom>
          <a:solidFill>
            <a:srgbClr val="FFFFFF"/>
          </a:solidFill>
          <a:ln w="12700">
            <a:solidFill>
              <a:srgbClr val="E9EEF5"/>
            </a:solidFill>
            <a:prstDash val="solid"/>
          </a:ln>
        </p:spPr>
      </p:sp>
      <p:sp>
        <p:nvSpPr>
          <p:cNvPr id="12" name="Agenda min 3"/>
          <p:cNvSpPr txBox="1"/>
          <p:nvPr/>
        </p:nvSpPr>
        <p:spPr>
          <a:xfrm>
            <a:off x="2807716" y="1600200"/>
            <a:ext cx="108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20</a:t>
            </a:r>
            <a:endParaRPr lang="en-US" sz="2400" dirty="0"/>
          </a:p>
        </p:txBody>
      </p:sp>
      <p:sp>
        <p:nvSpPr>
          <p:cNvPr id="13" name="Agenda unit 3"/>
          <p:cNvSpPr txBox="1"/>
          <p:nvPr/>
        </p:nvSpPr>
        <p:spPr>
          <a:xfrm>
            <a:off x="2807716" y="2084832"/>
            <a:ext cx="108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min</a:t>
            </a:r>
            <a:endParaRPr lang="en-US" sz="1000" dirty="0"/>
          </a:p>
        </p:txBody>
      </p:sp>
      <p:sp>
        <p:nvSpPr>
          <p:cNvPr id="14" name="Agenda label 3"/>
          <p:cNvSpPr txBox="1"/>
          <p:nvPr/>
        </p:nvSpPr>
        <p:spPr>
          <a:xfrm>
            <a:off x="2707132" y="3154680"/>
            <a:ext cx="1288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Types + workflow</a:t>
            </a:r>
            <a:endParaRPr lang="en-US" sz="1100" dirty="0"/>
          </a:p>
        </p:txBody>
      </p:sp>
      <p:sp>
        <p:nvSpPr>
          <p:cNvPr id="15" name="Agenda block 4"/>
          <p:cNvSpPr/>
          <p:nvPr/>
        </p:nvSpPr>
        <p:spPr>
          <a:xfrm>
            <a:off x="4004564" y="1463040"/>
            <a:ext cx="777240" cy="1554480"/>
          </a:xfrm>
          <a:prstGeom prst="roundRect">
            <a:avLst>
              <a:gd name="adj" fmla="val 14118"/>
            </a:avLst>
          </a:prstGeom>
          <a:solidFill>
            <a:srgbClr val="F0B44C"/>
          </a:solidFill>
          <a:ln w="12700">
            <a:solidFill>
              <a:srgbClr val="F0B44C"/>
            </a:solidFill>
            <a:prstDash val="solid"/>
          </a:ln>
        </p:spPr>
      </p:sp>
      <p:sp>
        <p:nvSpPr>
          <p:cNvPr id="16" name="Agenda min 4"/>
          <p:cNvSpPr txBox="1"/>
          <p:nvPr/>
        </p:nvSpPr>
        <p:spPr>
          <a:xfrm>
            <a:off x="4059428" y="1600200"/>
            <a:ext cx="667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10</a:t>
            </a:r>
            <a:endParaRPr lang="en-US" sz="2400" dirty="0"/>
          </a:p>
        </p:txBody>
      </p:sp>
      <p:sp>
        <p:nvSpPr>
          <p:cNvPr id="17" name="Agenda unit 4"/>
          <p:cNvSpPr txBox="1"/>
          <p:nvPr/>
        </p:nvSpPr>
        <p:spPr>
          <a:xfrm>
            <a:off x="4059428" y="2084832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min</a:t>
            </a:r>
            <a:endParaRPr lang="en-US" sz="1000" dirty="0"/>
          </a:p>
        </p:txBody>
      </p:sp>
      <p:sp>
        <p:nvSpPr>
          <p:cNvPr id="18" name="Agenda label 4"/>
          <p:cNvSpPr txBox="1"/>
          <p:nvPr/>
        </p:nvSpPr>
        <p:spPr>
          <a:xfrm>
            <a:off x="3958844" y="3154680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Break</a:t>
            </a:r>
            <a:endParaRPr lang="en-US" sz="1100" dirty="0"/>
          </a:p>
        </p:txBody>
      </p:sp>
      <p:sp>
        <p:nvSpPr>
          <p:cNvPr id="19" name="Agenda block 5"/>
          <p:cNvSpPr/>
          <p:nvPr/>
        </p:nvSpPr>
        <p:spPr>
          <a:xfrm>
            <a:off x="4836668" y="1463040"/>
            <a:ext cx="2094484" cy="1554480"/>
          </a:xfrm>
          <a:prstGeom prst="roundRect">
            <a:avLst>
              <a:gd name="adj" fmla="val 7059"/>
            </a:avLst>
          </a:prstGeom>
          <a:solidFill>
            <a:srgbClr val="1F5FC9"/>
          </a:solidFill>
          <a:ln w="12700">
            <a:solidFill>
              <a:srgbClr val="1F5FC9"/>
            </a:solidFill>
            <a:prstDash val="solid"/>
          </a:ln>
        </p:spPr>
      </p:sp>
      <p:sp>
        <p:nvSpPr>
          <p:cNvPr id="20" name="Agenda min 5"/>
          <p:cNvSpPr txBox="1"/>
          <p:nvPr/>
        </p:nvSpPr>
        <p:spPr>
          <a:xfrm>
            <a:off x="4891532" y="1600200"/>
            <a:ext cx="19847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35</a:t>
            </a:r>
            <a:endParaRPr lang="en-US" sz="2400" dirty="0"/>
          </a:p>
        </p:txBody>
      </p:sp>
      <p:sp>
        <p:nvSpPr>
          <p:cNvPr id="21" name="Agenda unit 5"/>
          <p:cNvSpPr txBox="1"/>
          <p:nvPr/>
        </p:nvSpPr>
        <p:spPr>
          <a:xfrm>
            <a:off x="4891532" y="2084832"/>
            <a:ext cx="1984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min</a:t>
            </a:r>
            <a:endParaRPr lang="en-US" sz="1000" dirty="0"/>
          </a:p>
        </p:txBody>
      </p:sp>
      <p:sp>
        <p:nvSpPr>
          <p:cNvPr id="22" name="Agenda label 5"/>
          <p:cNvSpPr txBox="1"/>
          <p:nvPr/>
        </p:nvSpPr>
        <p:spPr>
          <a:xfrm>
            <a:off x="4790948" y="3154680"/>
            <a:ext cx="21859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Environment setup</a:t>
            </a:r>
            <a:endParaRPr lang="en-US" sz="1100" dirty="0"/>
          </a:p>
        </p:txBody>
      </p:sp>
      <p:sp>
        <p:nvSpPr>
          <p:cNvPr id="23" name="Agenda block 6"/>
          <p:cNvSpPr/>
          <p:nvPr/>
        </p:nvSpPr>
        <p:spPr>
          <a:xfrm>
            <a:off x="6986016" y="1463040"/>
            <a:ext cx="777240" cy="155448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E9EEF5"/>
            </a:solidFill>
            <a:prstDash val="solid"/>
          </a:ln>
        </p:spPr>
      </p:sp>
      <p:sp>
        <p:nvSpPr>
          <p:cNvPr id="24" name="Agenda min 6"/>
          <p:cNvSpPr txBox="1"/>
          <p:nvPr/>
        </p:nvSpPr>
        <p:spPr>
          <a:xfrm>
            <a:off x="7040880" y="1600200"/>
            <a:ext cx="667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5</a:t>
            </a:r>
            <a:endParaRPr lang="en-US" sz="2400" dirty="0"/>
          </a:p>
        </p:txBody>
      </p:sp>
      <p:sp>
        <p:nvSpPr>
          <p:cNvPr id="25" name="Agenda unit 6"/>
          <p:cNvSpPr txBox="1"/>
          <p:nvPr/>
        </p:nvSpPr>
        <p:spPr>
          <a:xfrm>
            <a:off x="7040880" y="2084832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min</a:t>
            </a:r>
            <a:endParaRPr lang="en-US" sz="1000" dirty="0"/>
          </a:p>
        </p:txBody>
      </p:sp>
      <p:sp>
        <p:nvSpPr>
          <p:cNvPr id="26" name="Agenda label 6"/>
          <p:cNvSpPr txBox="1"/>
          <p:nvPr/>
        </p:nvSpPr>
        <p:spPr>
          <a:xfrm>
            <a:off x="6940296" y="3154680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Exit ticket</a:t>
            </a:r>
            <a:endParaRPr lang="en-US" sz="1100" dirty="0"/>
          </a:p>
        </p:txBody>
      </p:sp>
      <p:sp>
        <p:nvSpPr>
          <p:cNvPr id="27" name="Agenda block 7"/>
          <p:cNvSpPr/>
          <p:nvPr/>
        </p:nvSpPr>
        <p:spPr>
          <a:xfrm>
            <a:off x="7818120" y="1463040"/>
            <a:ext cx="777240" cy="155448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E9EEF5"/>
            </a:solidFill>
            <a:prstDash val="solid"/>
          </a:ln>
        </p:spPr>
      </p:sp>
      <p:sp>
        <p:nvSpPr>
          <p:cNvPr id="28" name="Agenda min 7"/>
          <p:cNvSpPr txBox="1"/>
          <p:nvPr/>
        </p:nvSpPr>
        <p:spPr>
          <a:xfrm>
            <a:off x="7872984" y="1600200"/>
            <a:ext cx="667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10</a:t>
            </a:r>
            <a:endParaRPr lang="en-US" sz="2400" dirty="0"/>
          </a:p>
        </p:txBody>
      </p:sp>
      <p:sp>
        <p:nvSpPr>
          <p:cNvPr id="29" name="Agenda unit 7"/>
          <p:cNvSpPr txBox="1"/>
          <p:nvPr/>
        </p:nvSpPr>
        <p:spPr>
          <a:xfrm>
            <a:off x="7872984" y="2084832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min</a:t>
            </a:r>
            <a:endParaRPr lang="en-US" sz="1000" dirty="0"/>
          </a:p>
        </p:txBody>
      </p:sp>
      <p:sp>
        <p:nvSpPr>
          <p:cNvPr id="30" name="Agenda label 7"/>
          <p:cNvSpPr txBox="1"/>
          <p:nvPr/>
        </p:nvSpPr>
        <p:spPr>
          <a:xfrm>
            <a:off x="7772400" y="3154680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Recap</a:t>
            </a:r>
            <a:endParaRPr lang="en-US" sz="1100" dirty="0"/>
          </a:p>
        </p:txBody>
      </p:sp>
      <p:sp>
        <p:nvSpPr>
          <p:cNvPr id="31" name="Agenda note"/>
          <p:cNvSpPr txBox="1"/>
          <p:nvPr/>
        </p:nvSpPr>
        <p:spPr>
          <a:xfrm>
            <a:off x="548640" y="4069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Plus 5 min opening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By the end of today you can…</a:t>
            </a:r>
            <a:endParaRPr lang="en-US" sz="3000" dirty="0"/>
          </a:p>
        </p:txBody>
      </p:sp>
      <p:sp>
        <p:nvSpPr>
          <p:cNvPr id="3" name="Objective card 1"/>
          <p:cNvSpPr/>
          <p:nvPr/>
        </p:nvSpPr>
        <p:spPr>
          <a:xfrm>
            <a:off x="548640" y="1188720"/>
            <a:ext cx="39319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9EEF5"/>
            </a:solidFill>
            <a:prstDash val="solid"/>
          </a:ln>
        </p:spPr>
      </p:sp>
      <p:sp>
        <p:nvSpPr>
          <p:cNvPr id="4" name="Objective num 1"/>
          <p:cNvSpPr txBox="1"/>
          <p:nvPr/>
        </p:nvSpPr>
        <p:spPr>
          <a:xfrm>
            <a:off x="77724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5" name="Objective text 1"/>
          <p:cNvSpPr txBox="1"/>
          <p:nvPr/>
        </p:nvSpPr>
        <p:spPr>
          <a:xfrm>
            <a:off x="1417320" y="137160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Explain what ML is and how it differs from rule-based programming</a:t>
            </a:r>
            <a:endParaRPr lang="en-US" sz="1500" dirty="0"/>
          </a:p>
        </p:txBody>
      </p:sp>
      <p:sp>
        <p:nvSpPr>
          <p:cNvPr id="6" name="Objective card 2"/>
          <p:cNvSpPr/>
          <p:nvPr/>
        </p:nvSpPr>
        <p:spPr>
          <a:xfrm>
            <a:off x="4617720" y="1188720"/>
            <a:ext cx="39319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9EEF5"/>
            </a:solidFill>
            <a:prstDash val="solid"/>
          </a:ln>
        </p:spPr>
      </p:sp>
      <p:sp>
        <p:nvSpPr>
          <p:cNvPr id="7" name="Objective num 2"/>
          <p:cNvSpPr txBox="1"/>
          <p:nvPr/>
        </p:nvSpPr>
        <p:spPr>
          <a:xfrm>
            <a:off x="484632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2</a:t>
            </a:r>
            <a:endParaRPr lang="en-US" sz="3000" dirty="0"/>
          </a:p>
        </p:txBody>
      </p:sp>
      <p:sp>
        <p:nvSpPr>
          <p:cNvPr id="8" name="Objective text 2"/>
          <p:cNvSpPr txBox="1"/>
          <p:nvPr/>
        </p:nvSpPr>
        <p:spPr>
          <a:xfrm>
            <a:off x="5486400" y="137160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Name the three types of ML, with an example of each</a:t>
            </a:r>
            <a:endParaRPr lang="en-US" sz="1500" dirty="0"/>
          </a:p>
        </p:txBody>
      </p:sp>
      <p:sp>
        <p:nvSpPr>
          <p:cNvPr id="9" name="Objective card 3"/>
          <p:cNvSpPr/>
          <p:nvPr/>
        </p:nvSpPr>
        <p:spPr>
          <a:xfrm>
            <a:off x="548640" y="2880360"/>
            <a:ext cx="39319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9EEF5"/>
            </a:solidFill>
            <a:prstDash val="solid"/>
          </a:ln>
        </p:spPr>
      </p:sp>
      <p:sp>
        <p:nvSpPr>
          <p:cNvPr id="10" name="Objective num 3"/>
          <p:cNvSpPr txBox="1"/>
          <p:nvPr/>
        </p:nvSpPr>
        <p:spPr>
          <a:xfrm>
            <a:off x="77724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1" name="Objective text 3"/>
          <p:cNvSpPr txBox="1"/>
          <p:nvPr/>
        </p:nvSpPr>
        <p:spPr>
          <a:xfrm>
            <a:off x="1417320" y="306324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Describe the workflow: data → train → evaluate → use</a:t>
            </a:r>
            <a:endParaRPr lang="en-US" sz="1500" dirty="0"/>
          </a:p>
        </p:txBody>
      </p:sp>
      <p:sp>
        <p:nvSpPr>
          <p:cNvPr id="12" name="Objective card 4"/>
          <p:cNvSpPr/>
          <p:nvPr/>
        </p:nvSpPr>
        <p:spPr>
          <a:xfrm>
            <a:off x="4617720" y="2880360"/>
            <a:ext cx="39319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9EEF5"/>
            </a:solidFill>
            <a:prstDash val="solid"/>
          </a:ln>
        </p:spPr>
      </p:sp>
      <p:sp>
        <p:nvSpPr>
          <p:cNvPr id="13" name="Objective num 4"/>
          <p:cNvSpPr txBox="1"/>
          <p:nvPr/>
        </p:nvSpPr>
        <p:spPr>
          <a:xfrm>
            <a:off x="484632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4</a:t>
            </a:r>
            <a:endParaRPr lang="en-US" sz="3000" dirty="0"/>
          </a:p>
        </p:txBody>
      </p:sp>
      <p:sp>
        <p:nvSpPr>
          <p:cNvPr id="14" name="Objective text 4"/>
          <p:cNvSpPr txBox="1"/>
          <p:nvPr/>
        </p:nvSpPr>
        <p:spPr>
          <a:xfrm>
            <a:off x="5486400" y="306324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Run Python, Jupyter and scikit-learn on your own machine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Where today fits</a:t>
            </a:r>
            <a:endParaRPr lang="en-US" sz="3000" dirty="0"/>
          </a:p>
        </p:txBody>
      </p:sp>
      <p:sp>
        <p:nvSpPr>
          <p:cNvPr id="3" name="Roadmap step 1"/>
          <p:cNvSpPr/>
          <p:nvPr/>
        </p:nvSpPr>
        <p:spPr>
          <a:xfrm>
            <a:off x="548640" y="1737360"/>
            <a:ext cx="1226820" cy="1371600"/>
          </a:xfrm>
          <a:prstGeom prst="roundRect">
            <a:avLst>
              <a:gd name="adj" fmla="val 8944"/>
            </a:avLst>
          </a:prstGeom>
          <a:solidFill>
            <a:srgbClr val="1F5FC9"/>
          </a:solidFill>
          <a:ln w="12700">
            <a:solidFill>
              <a:srgbClr val="1F5FC9"/>
            </a:solidFill>
            <a:prstDash val="solid"/>
          </a:ln>
        </p:spPr>
      </p:sp>
      <p:sp>
        <p:nvSpPr>
          <p:cNvPr id="4" name="Roadmap num 1"/>
          <p:cNvSpPr txBox="1"/>
          <p:nvPr/>
        </p:nvSpPr>
        <p:spPr>
          <a:xfrm>
            <a:off x="640080" y="1828800"/>
            <a:ext cx="10439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S1</a:t>
            </a:r>
            <a:endParaRPr lang="en-US" sz="1800" dirty="0"/>
          </a:p>
        </p:txBody>
      </p:sp>
      <p:sp>
        <p:nvSpPr>
          <p:cNvPr id="5" name="Roadmap label 1"/>
          <p:cNvSpPr txBox="1"/>
          <p:nvPr/>
        </p:nvSpPr>
        <p:spPr>
          <a:xfrm>
            <a:off x="621792" y="2286000"/>
            <a:ext cx="10805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ML Basics</a:t>
            </a:r>
            <a:endParaRPr lang="en-US" sz="1300" dirty="0"/>
          </a:p>
        </p:txBody>
      </p:sp>
      <p:sp>
        <p:nvSpPr>
          <p:cNvPr id="6" name="Roadmap step 2"/>
          <p:cNvSpPr/>
          <p:nvPr/>
        </p:nvSpPr>
        <p:spPr>
          <a:xfrm>
            <a:off x="1912620" y="1737360"/>
            <a:ext cx="1226820" cy="1371600"/>
          </a:xfrm>
          <a:prstGeom prst="roundRect">
            <a:avLst>
              <a:gd name="adj" fmla="val 8944"/>
            </a:avLst>
          </a:prstGeom>
          <a:solidFill>
            <a:srgbClr val="FFFFFF"/>
          </a:solidFill>
          <a:ln w="12700">
            <a:solidFill>
              <a:srgbClr val="E9EEF5"/>
            </a:solidFill>
            <a:prstDash val="solid"/>
          </a:ln>
        </p:spPr>
      </p:sp>
      <p:sp>
        <p:nvSpPr>
          <p:cNvPr id="7" name="Roadmap num 2"/>
          <p:cNvSpPr txBox="1"/>
          <p:nvPr/>
        </p:nvSpPr>
        <p:spPr>
          <a:xfrm>
            <a:off x="2004060" y="1828800"/>
            <a:ext cx="10439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S2</a:t>
            </a:r>
            <a:endParaRPr lang="en-US" sz="1800" dirty="0"/>
          </a:p>
        </p:txBody>
      </p:sp>
      <p:sp>
        <p:nvSpPr>
          <p:cNvPr id="8" name="Roadmap label 2"/>
          <p:cNvSpPr txBox="1"/>
          <p:nvPr/>
        </p:nvSpPr>
        <p:spPr>
          <a:xfrm>
            <a:off x="1985772" y="2286000"/>
            <a:ext cx="10805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Data</a:t>
            </a:r>
            <a:endParaRPr lang="en-US" sz="1300" dirty="0"/>
          </a:p>
        </p:txBody>
      </p:sp>
      <p:sp>
        <p:nvSpPr>
          <p:cNvPr id="9" name="Roadmap step 3"/>
          <p:cNvSpPr/>
          <p:nvPr/>
        </p:nvSpPr>
        <p:spPr>
          <a:xfrm>
            <a:off x="3276600" y="1737360"/>
            <a:ext cx="1226820" cy="1371600"/>
          </a:xfrm>
          <a:prstGeom prst="roundRect">
            <a:avLst>
              <a:gd name="adj" fmla="val 8944"/>
            </a:avLst>
          </a:prstGeom>
          <a:solidFill>
            <a:srgbClr val="FFFFFF"/>
          </a:solidFill>
          <a:ln w="12700">
            <a:solidFill>
              <a:srgbClr val="E9EEF5"/>
            </a:solidFill>
            <a:prstDash val="solid"/>
          </a:ln>
        </p:spPr>
      </p:sp>
      <p:sp>
        <p:nvSpPr>
          <p:cNvPr id="10" name="Roadmap num 3"/>
          <p:cNvSpPr txBox="1"/>
          <p:nvPr/>
        </p:nvSpPr>
        <p:spPr>
          <a:xfrm>
            <a:off x="3368040" y="1828800"/>
            <a:ext cx="10439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S3</a:t>
            </a:r>
            <a:endParaRPr lang="en-US" sz="1800" dirty="0"/>
          </a:p>
        </p:txBody>
      </p:sp>
      <p:sp>
        <p:nvSpPr>
          <p:cNvPr id="11" name="Roadmap label 3"/>
          <p:cNvSpPr txBox="1"/>
          <p:nvPr/>
        </p:nvSpPr>
        <p:spPr>
          <a:xfrm>
            <a:off x="3349752" y="2286000"/>
            <a:ext cx="10805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First Classifier</a:t>
            </a:r>
            <a:endParaRPr lang="en-US" sz="1300" dirty="0"/>
          </a:p>
        </p:txBody>
      </p:sp>
      <p:sp>
        <p:nvSpPr>
          <p:cNvPr id="12" name="Roadmap step 4"/>
          <p:cNvSpPr/>
          <p:nvPr/>
        </p:nvSpPr>
        <p:spPr>
          <a:xfrm>
            <a:off x="4640580" y="1737360"/>
            <a:ext cx="1226820" cy="1371600"/>
          </a:xfrm>
          <a:prstGeom prst="roundRect">
            <a:avLst>
              <a:gd name="adj" fmla="val 8944"/>
            </a:avLst>
          </a:prstGeom>
          <a:solidFill>
            <a:srgbClr val="FFFFFF"/>
          </a:solidFill>
          <a:ln w="12700">
            <a:solidFill>
              <a:srgbClr val="E9EEF5"/>
            </a:solidFill>
            <a:prstDash val="solid"/>
          </a:ln>
        </p:spPr>
      </p:sp>
      <p:sp>
        <p:nvSpPr>
          <p:cNvPr id="13" name="Roadmap num 4"/>
          <p:cNvSpPr txBox="1"/>
          <p:nvPr/>
        </p:nvSpPr>
        <p:spPr>
          <a:xfrm>
            <a:off x="4732020" y="1828800"/>
            <a:ext cx="10439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S4</a:t>
            </a:r>
            <a:endParaRPr lang="en-US" sz="1800" dirty="0"/>
          </a:p>
        </p:txBody>
      </p:sp>
      <p:sp>
        <p:nvSpPr>
          <p:cNvPr id="14" name="Roadmap label 4"/>
          <p:cNvSpPr txBox="1"/>
          <p:nvPr/>
        </p:nvSpPr>
        <p:spPr>
          <a:xfrm>
            <a:off x="4713732" y="2286000"/>
            <a:ext cx="10805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Comparing Models</a:t>
            </a:r>
            <a:endParaRPr lang="en-US" sz="1300" dirty="0"/>
          </a:p>
        </p:txBody>
      </p:sp>
      <p:sp>
        <p:nvSpPr>
          <p:cNvPr id="15" name="Roadmap step 5"/>
          <p:cNvSpPr/>
          <p:nvPr/>
        </p:nvSpPr>
        <p:spPr>
          <a:xfrm>
            <a:off x="6004560" y="1737360"/>
            <a:ext cx="1226820" cy="1371600"/>
          </a:xfrm>
          <a:prstGeom prst="roundRect">
            <a:avLst>
              <a:gd name="adj" fmla="val 8944"/>
            </a:avLst>
          </a:prstGeom>
          <a:solidFill>
            <a:srgbClr val="FFFFFF"/>
          </a:solidFill>
          <a:ln w="12700">
            <a:solidFill>
              <a:srgbClr val="E9EEF5"/>
            </a:solidFill>
            <a:prstDash val="solid"/>
          </a:ln>
        </p:spPr>
      </p:sp>
      <p:sp>
        <p:nvSpPr>
          <p:cNvPr id="16" name="Roadmap num 5"/>
          <p:cNvSpPr txBox="1"/>
          <p:nvPr/>
        </p:nvSpPr>
        <p:spPr>
          <a:xfrm>
            <a:off x="6096000" y="1828800"/>
            <a:ext cx="10439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S5</a:t>
            </a:r>
            <a:endParaRPr lang="en-US" sz="1800" dirty="0"/>
          </a:p>
        </p:txBody>
      </p:sp>
      <p:sp>
        <p:nvSpPr>
          <p:cNvPr id="17" name="Roadmap label 5"/>
          <p:cNvSpPr txBox="1"/>
          <p:nvPr/>
        </p:nvSpPr>
        <p:spPr>
          <a:xfrm>
            <a:off x="6077712" y="2286000"/>
            <a:ext cx="10805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Improving</a:t>
            </a:r>
            <a:endParaRPr lang="en-US" sz="1300" dirty="0"/>
          </a:p>
        </p:txBody>
      </p:sp>
      <p:sp>
        <p:nvSpPr>
          <p:cNvPr id="18" name="Roadmap step 6"/>
          <p:cNvSpPr/>
          <p:nvPr/>
        </p:nvSpPr>
        <p:spPr>
          <a:xfrm>
            <a:off x="7368540" y="1737360"/>
            <a:ext cx="1226820" cy="1371600"/>
          </a:xfrm>
          <a:prstGeom prst="roundRect">
            <a:avLst>
              <a:gd name="adj" fmla="val 8944"/>
            </a:avLst>
          </a:prstGeom>
          <a:solidFill>
            <a:srgbClr val="FFFFFF"/>
          </a:solidFill>
          <a:ln w="12700">
            <a:solidFill>
              <a:srgbClr val="E9EEF5"/>
            </a:solidFill>
            <a:prstDash val="solid"/>
          </a:ln>
        </p:spPr>
      </p:sp>
      <p:sp>
        <p:nvSpPr>
          <p:cNvPr id="19" name="Roadmap num 6"/>
          <p:cNvSpPr txBox="1"/>
          <p:nvPr/>
        </p:nvSpPr>
        <p:spPr>
          <a:xfrm>
            <a:off x="7459980" y="1828800"/>
            <a:ext cx="10439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S6</a:t>
            </a:r>
            <a:endParaRPr lang="en-US" sz="1800" dirty="0"/>
          </a:p>
        </p:txBody>
      </p:sp>
      <p:sp>
        <p:nvSpPr>
          <p:cNvPr id="20" name="Roadmap label 6"/>
          <p:cNvSpPr txBox="1"/>
          <p:nvPr/>
        </p:nvSpPr>
        <p:spPr>
          <a:xfrm>
            <a:off x="7441692" y="2286000"/>
            <a:ext cx="10805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Project</a:t>
            </a:r>
            <a:endParaRPr lang="en-US" sz="1300" dirty="0"/>
          </a:p>
        </p:txBody>
      </p:sp>
      <p:sp>
        <p:nvSpPr>
          <p:cNvPr id="21" name="Roadmap today"/>
          <p:cNvSpPr txBox="1"/>
          <p:nvPr/>
        </p:nvSpPr>
        <p:spPr>
          <a:xfrm>
            <a:off x="548640" y="3246120"/>
            <a:ext cx="17754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Today: the foundation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Two ways to make a computer decide</a:t>
            </a:r>
            <a:endParaRPr lang="en-US" sz="3000" dirty="0"/>
          </a:p>
        </p:txBody>
      </p:sp>
      <p:sp>
        <p:nvSpPr>
          <p:cNvPr id="3" name="Traditional label"/>
          <p:cNvSpPr txBox="1"/>
          <p:nvPr/>
        </p:nvSpPr>
        <p:spPr>
          <a:xfrm>
            <a:off x="548640" y="1143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Traditional programming</a:t>
            </a:r>
            <a:endParaRPr lang="en-US" sz="1600" dirty="0"/>
          </a:p>
        </p:txBody>
      </p:sp>
      <p:sp>
        <p:nvSpPr>
          <p:cNvPr id="4" name="Traditional step 1"/>
          <p:cNvSpPr/>
          <p:nvPr/>
        </p:nvSpPr>
        <p:spPr>
          <a:xfrm>
            <a:off x="548640" y="1600200"/>
            <a:ext cx="384048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9EEF5"/>
            </a:solidFill>
            <a:prstDash val="solid"/>
          </a:ln>
        </p:spPr>
      </p:sp>
      <p:sp>
        <p:nvSpPr>
          <p:cNvPr id="5" name="Traditional text 1"/>
          <p:cNvSpPr txBox="1"/>
          <p:nvPr/>
        </p:nvSpPr>
        <p:spPr>
          <a:xfrm>
            <a:off x="731520" y="16002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human writes the rules</a:t>
            </a:r>
            <a:endParaRPr lang="en-US" sz="1500" dirty="0"/>
          </a:p>
        </p:txBody>
      </p:sp>
      <p:sp>
        <p:nvSpPr>
          <p:cNvPr id="6" name="Traditional arrow 1"/>
          <p:cNvSpPr txBox="1"/>
          <p:nvPr/>
        </p:nvSpPr>
        <p:spPr>
          <a:xfrm>
            <a:off x="2286000" y="22585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↓</a:t>
            </a:r>
            <a:endParaRPr lang="en-US" sz="1400" dirty="0"/>
          </a:p>
        </p:txBody>
      </p:sp>
      <p:sp>
        <p:nvSpPr>
          <p:cNvPr id="7" name="Traditional step 2"/>
          <p:cNvSpPr/>
          <p:nvPr/>
        </p:nvSpPr>
        <p:spPr>
          <a:xfrm>
            <a:off x="548640" y="2514600"/>
            <a:ext cx="384048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9EEF5"/>
            </a:solidFill>
            <a:prstDash val="solid"/>
          </a:ln>
        </p:spPr>
      </p:sp>
      <p:sp>
        <p:nvSpPr>
          <p:cNvPr id="8" name="Traditional text 2"/>
          <p:cNvSpPr txBox="1"/>
          <p:nvPr/>
        </p:nvSpPr>
        <p:spPr>
          <a:xfrm>
            <a:off x="731520" y="25146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program applies them</a:t>
            </a:r>
            <a:endParaRPr lang="en-US" sz="1500" dirty="0"/>
          </a:p>
        </p:txBody>
      </p:sp>
      <p:sp>
        <p:nvSpPr>
          <p:cNvPr id="9" name="Traditional arrow 2"/>
          <p:cNvSpPr txBox="1"/>
          <p:nvPr/>
        </p:nvSpPr>
        <p:spPr>
          <a:xfrm>
            <a:off x="2286000" y="31729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↓</a:t>
            </a:r>
            <a:endParaRPr lang="en-US" sz="1400" dirty="0"/>
          </a:p>
        </p:txBody>
      </p:sp>
      <p:sp>
        <p:nvSpPr>
          <p:cNvPr id="10" name="Traditional step 3"/>
          <p:cNvSpPr/>
          <p:nvPr/>
        </p:nvSpPr>
        <p:spPr>
          <a:xfrm>
            <a:off x="548640" y="3429000"/>
            <a:ext cx="384048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9EEF5"/>
            </a:solidFill>
            <a:prstDash val="solid"/>
          </a:ln>
        </p:spPr>
      </p:sp>
      <p:sp>
        <p:nvSpPr>
          <p:cNvPr id="11" name="Traditional text 3"/>
          <p:cNvSpPr txBox="1"/>
          <p:nvPr/>
        </p:nvSpPr>
        <p:spPr>
          <a:xfrm>
            <a:off x="731520" y="34290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Output</a:t>
            </a:r>
            <a:endParaRPr lang="en-US" sz="1500" dirty="0"/>
          </a:p>
        </p:txBody>
      </p:sp>
      <p:sp>
        <p:nvSpPr>
          <p:cNvPr id="12" name="ML label"/>
          <p:cNvSpPr txBox="1"/>
          <p:nvPr/>
        </p:nvSpPr>
        <p:spPr>
          <a:xfrm>
            <a:off x="4663440" y="1143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Machine learning</a:t>
            </a:r>
            <a:endParaRPr lang="en-US" sz="1600" dirty="0"/>
          </a:p>
        </p:txBody>
      </p:sp>
      <p:sp>
        <p:nvSpPr>
          <p:cNvPr id="13" name="ML step 1"/>
          <p:cNvSpPr/>
          <p:nvPr/>
        </p:nvSpPr>
        <p:spPr>
          <a:xfrm>
            <a:off x="4663440" y="1600200"/>
            <a:ext cx="3840480" cy="685800"/>
          </a:xfrm>
          <a:prstGeom prst="roundRect">
            <a:avLst>
              <a:gd name="adj" fmla="val 16000"/>
            </a:avLst>
          </a:prstGeom>
          <a:solidFill>
            <a:srgbClr val="1F5FC9"/>
          </a:solidFill>
          <a:ln w="12700">
            <a:solidFill>
              <a:srgbClr val="1F5FC9"/>
            </a:solidFill>
            <a:prstDash val="solid"/>
          </a:ln>
        </p:spPr>
      </p:sp>
      <p:sp>
        <p:nvSpPr>
          <p:cNvPr id="14" name="ML text 1"/>
          <p:cNvSpPr txBox="1"/>
          <p:nvPr/>
        </p:nvSpPr>
        <p:spPr>
          <a:xfrm>
            <a:off x="4846320" y="16002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Data + correct answers</a:t>
            </a:r>
            <a:endParaRPr lang="en-US" sz="1500" dirty="0"/>
          </a:p>
        </p:txBody>
      </p:sp>
      <p:sp>
        <p:nvSpPr>
          <p:cNvPr id="15" name="ML arrow 1"/>
          <p:cNvSpPr txBox="1"/>
          <p:nvPr/>
        </p:nvSpPr>
        <p:spPr>
          <a:xfrm>
            <a:off x="6400800" y="22585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↓</a:t>
            </a:r>
            <a:endParaRPr lang="en-US" sz="1400" dirty="0"/>
          </a:p>
        </p:txBody>
      </p:sp>
      <p:sp>
        <p:nvSpPr>
          <p:cNvPr id="16" name="ML step 2"/>
          <p:cNvSpPr/>
          <p:nvPr/>
        </p:nvSpPr>
        <p:spPr>
          <a:xfrm>
            <a:off x="4663440" y="2514600"/>
            <a:ext cx="3840480" cy="685800"/>
          </a:xfrm>
          <a:prstGeom prst="roundRect">
            <a:avLst>
              <a:gd name="adj" fmla="val 16000"/>
            </a:avLst>
          </a:prstGeom>
          <a:solidFill>
            <a:srgbClr val="1F5FC9"/>
          </a:solidFill>
          <a:ln w="12700">
            <a:solidFill>
              <a:srgbClr val="1F5FC9"/>
            </a:solidFill>
            <a:prstDash val="solid"/>
          </a:ln>
        </p:spPr>
      </p:sp>
      <p:sp>
        <p:nvSpPr>
          <p:cNvPr id="17" name="ML text 2"/>
          <p:cNvSpPr txBox="1"/>
          <p:nvPr/>
        </p:nvSpPr>
        <p:spPr>
          <a:xfrm>
            <a:off x="4846320" y="25146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The model learns the rules</a:t>
            </a:r>
            <a:endParaRPr lang="en-US" sz="1500" dirty="0"/>
          </a:p>
        </p:txBody>
      </p:sp>
      <p:sp>
        <p:nvSpPr>
          <p:cNvPr id="18" name="ML arrow 2"/>
          <p:cNvSpPr txBox="1"/>
          <p:nvPr/>
        </p:nvSpPr>
        <p:spPr>
          <a:xfrm>
            <a:off x="6400800" y="31729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↓</a:t>
            </a:r>
            <a:endParaRPr lang="en-US" sz="1400" dirty="0"/>
          </a:p>
        </p:txBody>
      </p:sp>
      <p:sp>
        <p:nvSpPr>
          <p:cNvPr id="19" name="ML step 3"/>
          <p:cNvSpPr/>
          <p:nvPr/>
        </p:nvSpPr>
        <p:spPr>
          <a:xfrm>
            <a:off x="4663440" y="3429000"/>
            <a:ext cx="3840480" cy="685800"/>
          </a:xfrm>
          <a:prstGeom prst="roundRect">
            <a:avLst>
              <a:gd name="adj" fmla="val 16000"/>
            </a:avLst>
          </a:prstGeom>
          <a:solidFill>
            <a:srgbClr val="1F5FC9"/>
          </a:solidFill>
          <a:ln w="12700">
            <a:solidFill>
              <a:srgbClr val="1F5FC9"/>
            </a:solidFill>
            <a:prstDash val="solid"/>
          </a:ln>
        </p:spPr>
      </p:sp>
      <p:sp>
        <p:nvSpPr>
          <p:cNvPr id="20" name="ML text 3"/>
          <p:cNvSpPr txBox="1"/>
          <p:nvPr/>
        </p:nvSpPr>
        <p:spPr>
          <a:xfrm>
            <a:off x="4846320" y="34290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Predictions on new data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Machine learning, defined</a:t>
            </a:r>
            <a:endParaRPr lang="en-US" sz="3000" dirty="0"/>
          </a:p>
        </p:txBody>
      </p:sp>
      <p:sp>
        <p:nvSpPr>
          <p:cNvPr id="3" name="Definition card"/>
          <p:cNvSpPr/>
          <p:nvPr/>
        </p:nvSpPr>
        <p:spPr>
          <a:xfrm>
            <a:off x="548640" y="1325880"/>
            <a:ext cx="804672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9EEF5"/>
            </a:solidFill>
            <a:prstDash val="solid"/>
          </a:ln>
        </p:spPr>
      </p:sp>
      <p:sp>
        <p:nvSpPr>
          <p:cNvPr id="4" name="Definition"/>
          <p:cNvSpPr txBox="1"/>
          <p:nvPr/>
        </p:nvSpPr>
        <p:spPr>
          <a:xfrm>
            <a:off x="1005840" y="1508760"/>
            <a:ext cx="7132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A program that improves at a task by </a:t>
            </a:r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learning patterns from example data</a:t>
            </a:r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, rather than following rules a human wrote.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vity eyebrow"/>
          <p:cNvSpPr txBox="1"/>
          <p:nvPr/>
        </p:nvSpPr>
        <p:spPr>
          <a:xfrm>
            <a:off x="548640" y="4114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ACTIVITY 1 · 15 MIN · PAIRS</a:t>
            </a:r>
            <a:endParaRPr lang="en-US" sz="1200" dirty="0"/>
          </a:p>
        </p:txBody>
      </p:sp>
      <p:sp>
        <p:nvSpPr>
          <p:cNvPr id="3" name="Activity title"/>
          <p:cNvSpPr txBox="1"/>
          <p:nvPr/>
        </p:nvSpPr>
        <p:spPr>
          <a:xfrm>
            <a:off x="548640" y="7315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Find the pattern</a:t>
            </a:r>
            <a:endParaRPr lang="en-US" sz="3000" dirty="0"/>
          </a:p>
        </p:txBody>
      </p:sp>
      <p:sp>
        <p:nvSpPr>
          <p:cNvPr id="4" name="Step card 1"/>
          <p:cNvSpPr/>
          <p:nvPr/>
        </p:nvSpPr>
        <p:spPr>
          <a:xfrm>
            <a:off x="548640" y="1645920"/>
            <a:ext cx="2529840" cy="1874520"/>
          </a:xfrm>
          <a:prstGeom prst="roundRect">
            <a:avLst>
              <a:gd name="adj" fmla="val 5854"/>
            </a:avLst>
          </a:prstGeom>
          <a:solidFill>
            <a:srgbClr val="1B3150"/>
          </a:solidFill>
          <a:ln w="12700">
            <a:solidFill>
              <a:srgbClr val="1B3150"/>
            </a:solidFill>
            <a:prstDash val="solid"/>
          </a:ln>
        </p:spPr>
      </p:sp>
      <p:sp>
        <p:nvSpPr>
          <p:cNvPr id="5" name="Step num 1"/>
          <p:cNvSpPr txBox="1"/>
          <p:nvPr/>
        </p:nvSpPr>
        <p:spPr>
          <a:xfrm>
            <a:off x="77724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Step text 1"/>
          <p:cNvSpPr txBox="1"/>
          <p:nvPr/>
        </p:nvSpPr>
        <p:spPr>
          <a:xfrm>
            <a:off x="777240" y="2377440"/>
            <a:ext cx="207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Study the 8 training cards with your partner</a:t>
            </a:r>
            <a:endParaRPr lang="en-US" sz="1500" dirty="0"/>
          </a:p>
        </p:txBody>
      </p:sp>
      <p:sp>
        <p:nvSpPr>
          <p:cNvPr id="7" name="Step card 2"/>
          <p:cNvSpPr/>
          <p:nvPr/>
        </p:nvSpPr>
        <p:spPr>
          <a:xfrm>
            <a:off x="3307080" y="1645920"/>
            <a:ext cx="2529840" cy="1874520"/>
          </a:xfrm>
          <a:prstGeom prst="roundRect">
            <a:avLst>
              <a:gd name="adj" fmla="val 5854"/>
            </a:avLst>
          </a:prstGeom>
          <a:solidFill>
            <a:srgbClr val="1B3150"/>
          </a:solidFill>
          <a:ln w="12700">
            <a:solidFill>
              <a:srgbClr val="1B3150"/>
            </a:solidFill>
            <a:prstDash val="solid"/>
          </a:ln>
        </p:spPr>
      </p:sp>
      <p:sp>
        <p:nvSpPr>
          <p:cNvPr id="8" name="Step num 2"/>
          <p:cNvSpPr txBox="1"/>
          <p:nvPr/>
        </p:nvSpPr>
        <p:spPr>
          <a:xfrm>
            <a:off x="353568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Step text 2"/>
          <p:cNvSpPr txBox="1"/>
          <p:nvPr/>
        </p:nvSpPr>
        <p:spPr>
          <a:xfrm>
            <a:off x="3535680" y="2377440"/>
            <a:ext cx="207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Write your rule down — don't say it out loud yet</a:t>
            </a:r>
            <a:endParaRPr lang="en-US" sz="1500" dirty="0"/>
          </a:p>
        </p:txBody>
      </p:sp>
      <p:sp>
        <p:nvSpPr>
          <p:cNvPr id="10" name="Step card 3"/>
          <p:cNvSpPr/>
          <p:nvPr/>
        </p:nvSpPr>
        <p:spPr>
          <a:xfrm>
            <a:off x="6065520" y="1645920"/>
            <a:ext cx="2529840" cy="1874520"/>
          </a:xfrm>
          <a:prstGeom prst="roundRect">
            <a:avLst>
              <a:gd name="adj" fmla="val 5854"/>
            </a:avLst>
          </a:prstGeom>
          <a:solidFill>
            <a:srgbClr val="1B3150"/>
          </a:solidFill>
          <a:ln w="12700">
            <a:solidFill>
              <a:srgbClr val="1B3150"/>
            </a:solidFill>
            <a:prstDash val="solid"/>
          </a:ln>
        </p:spPr>
      </p:sp>
      <p:sp>
        <p:nvSpPr>
          <p:cNvPr id="11" name="Step num 3"/>
          <p:cNvSpPr txBox="1"/>
          <p:nvPr/>
        </p:nvSpPr>
        <p:spPr>
          <a:xfrm>
            <a:off x="629412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Step text 3"/>
          <p:cNvSpPr txBox="1"/>
          <p:nvPr/>
        </p:nvSpPr>
        <p:spPr>
          <a:xfrm>
            <a:off x="6294120" y="2377440"/>
            <a:ext cx="207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Use your rule to predict the 4 test cards</a:t>
            </a:r>
            <a:endParaRPr lang="en-US" sz="1500" dirty="0"/>
          </a:p>
        </p:txBody>
      </p:sp>
      <p:sp>
        <p:nvSpPr>
          <p:cNvPr id="13" name="Outcome pill"/>
          <p:cNvSpPr/>
          <p:nvPr/>
        </p:nvSpPr>
        <p:spPr>
          <a:xfrm>
            <a:off x="548640" y="3840480"/>
            <a:ext cx="8046720" cy="548640"/>
          </a:xfrm>
          <a:prstGeom prst="roundRect">
            <a:avLst>
              <a:gd name="adj" fmla="val 50000"/>
            </a:avLst>
          </a:prstGeom>
          <a:solidFill>
            <a:srgbClr val="F0B44C"/>
          </a:solidFill>
          <a:ln w="12700">
            <a:solidFill>
              <a:srgbClr val="F0B44C"/>
            </a:solidFill>
            <a:prstDash val="solid"/>
          </a:ln>
        </p:spPr>
      </p:sp>
      <p:sp>
        <p:nvSpPr>
          <p:cNvPr id="14" name="Outcome"/>
          <p:cNvSpPr txBox="1"/>
          <p:nvPr/>
        </p:nvSpPr>
        <p:spPr>
          <a:xfrm>
            <a:off x="822960" y="38404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Outcome: a written rule + 4 predictions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Type 1 · Supervised learning</a:t>
            </a:r>
            <a:endParaRPr lang="en-US" sz="3000" dirty="0"/>
          </a:p>
        </p:txBody>
      </p:sp>
      <p:sp>
        <p:nvSpPr>
          <p:cNvPr id="3" name="Type icon circle"/>
          <p:cNvSpPr/>
          <p:nvPr/>
        </p:nvSpPr>
        <p:spPr>
          <a:xfrm>
            <a:off x="548640" y="1417320"/>
            <a:ext cx="1463040" cy="1463040"/>
          </a:xfrm>
          <a:prstGeom prst="ellipse">
            <a:avLst/>
          </a:prstGeom>
          <a:solidFill>
            <a:srgbClr val="1F5FC9"/>
          </a:solidFill>
          <a:ln w="12700">
            <a:solidFill>
              <a:srgbClr val="1F5FC9"/>
            </a:solidFill>
            <a:prstDash val="solid"/>
          </a:ln>
        </p:spPr>
      </p:sp>
      <p:pic>
        <p:nvPicPr>
          <p:cNvPr id="4" name="Typ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83080"/>
            <a:ext cx="731520" cy="731520"/>
          </a:xfrm>
          <a:prstGeom prst="rect">
            <a:avLst/>
          </a:prstGeom>
        </p:spPr>
      </p:pic>
      <p:sp>
        <p:nvSpPr>
          <p:cNvPr id="5" name="Type definition"/>
          <p:cNvSpPr txBox="1"/>
          <p:nvPr/>
        </p:nvSpPr>
        <p:spPr>
          <a:xfrm>
            <a:off x="2377440" y="132588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Learn from labeled examples, then predict labels for new data</a:t>
            </a:r>
            <a:endParaRPr lang="en-US" sz="2400" dirty="0"/>
          </a:p>
        </p:txBody>
      </p:sp>
      <p:sp>
        <p:nvSpPr>
          <p:cNvPr id="6" name="Example card"/>
          <p:cNvSpPr/>
          <p:nvPr/>
        </p:nvSpPr>
        <p:spPr>
          <a:xfrm>
            <a:off x="2377440" y="2423160"/>
            <a:ext cx="56692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9EEF5"/>
            </a:solidFill>
            <a:prstDash val="solid"/>
          </a:ln>
        </p:spPr>
      </p:sp>
      <p:sp>
        <p:nvSpPr>
          <p:cNvPr id="7" name="Type example"/>
          <p:cNvSpPr txBox="1"/>
          <p:nvPr/>
        </p:nvSpPr>
        <p:spPr>
          <a:xfrm>
            <a:off x="2606040" y="2423160"/>
            <a:ext cx="5303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Example 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Predicting a house's price from its features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Type 2 · Unsupervised learning</a:t>
            </a:r>
            <a:endParaRPr lang="en-US" sz="3000" dirty="0"/>
          </a:p>
        </p:txBody>
      </p:sp>
      <p:sp>
        <p:nvSpPr>
          <p:cNvPr id="3" name="Type icon circle"/>
          <p:cNvSpPr/>
          <p:nvPr/>
        </p:nvSpPr>
        <p:spPr>
          <a:xfrm>
            <a:off x="548640" y="1417320"/>
            <a:ext cx="1463040" cy="1463040"/>
          </a:xfrm>
          <a:prstGeom prst="ellipse">
            <a:avLst/>
          </a:prstGeom>
          <a:solidFill>
            <a:srgbClr val="1F5FC9"/>
          </a:solidFill>
          <a:ln w="12700">
            <a:solidFill>
              <a:srgbClr val="1F5FC9"/>
            </a:solidFill>
            <a:prstDash val="solid"/>
          </a:ln>
        </p:spPr>
      </p:sp>
      <p:pic>
        <p:nvPicPr>
          <p:cNvPr id="4" name="Typ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83080"/>
            <a:ext cx="731520" cy="731520"/>
          </a:xfrm>
          <a:prstGeom prst="rect">
            <a:avLst/>
          </a:prstGeom>
        </p:spPr>
      </p:pic>
      <p:sp>
        <p:nvSpPr>
          <p:cNvPr id="5" name="Type definition"/>
          <p:cNvSpPr txBox="1"/>
          <p:nvPr/>
        </p:nvSpPr>
        <p:spPr>
          <a:xfrm>
            <a:off x="2377440" y="132588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Find structure in data that has no labels</a:t>
            </a:r>
            <a:endParaRPr lang="en-US" sz="2400" dirty="0"/>
          </a:p>
        </p:txBody>
      </p:sp>
      <p:sp>
        <p:nvSpPr>
          <p:cNvPr id="6" name="Example card"/>
          <p:cNvSpPr/>
          <p:nvPr/>
        </p:nvSpPr>
        <p:spPr>
          <a:xfrm>
            <a:off x="2377440" y="2423160"/>
            <a:ext cx="56692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9EEF5"/>
            </a:solidFill>
            <a:prstDash val="solid"/>
          </a:ln>
        </p:spPr>
      </p:sp>
      <p:sp>
        <p:nvSpPr>
          <p:cNvPr id="7" name="Type example"/>
          <p:cNvSpPr txBox="1"/>
          <p:nvPr/>
        </p:nvSpPr>
        <p:spPr>
          <a:xfrm>
            <a:off x="2606040" y="2423160"/>
            <a:ext cx="5303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Example 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Grouping customers by what they buy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Type 3 · Reinforcement learning</a:t>
            </a:r>
            <a:endParaRPr lang="en-US" sz="3000" dirty="0"/>
          </a:p>
        </p:txBody>
      </p:sp>
      <p:sp>
        <p:nvSpPr>
          <p:cNvPr id="3" name="Type icon circle"/>
          <p:cNvSpPr/>
          <p:nvPr/>
        </p:nvSpPr>
        <p:spPr>
          <a:xfrm>
            <a:off x="548640" y="1417320"/>
            <a:ext cx="1463040" cy="1463040"/>
          </a:xfrm>
          <a:prstGeom prst="ellipse">
            <a:avLst/>
          </a:prstGeom>
          <a:solidFill>
            <a:srgbClr val="1F5FC9"/>
          </a:solidFill>
          <a:ln w="12700">
            <a:solidFill>
              <a:srgbClr val="1F5FC9"/>
            </a:solidFill>
            <a:prstDash val="solid"/>
          </a:ln>
        </p:spPr>
      </p:sp>
      <p:pic>
        <p:nvPicPr>
          <p:cNvPr id="4" name="Typ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83080"/>
            <a:ext cx="731520" cy="731520"/>
          </a:xfrm>
          <a:prstGeom prst="rect">
            <a:avLst/>
          </a:prstGeom>
        </p:spPr>
      </p:pic>
      <p:sp>
        <p:nvSpPr>
          <p:cNvPr id="5" name="Type definition"/>
          <p:cNvSpPr txBox="1"/>
          <p:nvPr/>
        </p:nvSpPr>
        <p:spPr>
          <a:xfrm>
            <a:off x="2377440" y="132588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Learn by trial, error and reward</a:t>
            </a:r>
            <a:endParaRPr lang="en-US" sz="2400" dirty="0"/>
          </a:p>
        </p:txBody>
      </p:sp>
      <p:sp>
        <p:nvSpPr>
          <p:cNvPr id="6" name="Example card"/>
          <p:cNvSpPr/>
          <p:nvPr/>
        </p:nvSpPr>
        <p:spPr>
          <a:xfrm>
            <a:off x="2377440" y="2423160"/>
            <a:ext cx="56692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9EEF5"/>
            </a:solidFill>
            <a:prstDash val="solid"/>
          </a:ln>
        </p:spPr>
      </p:sp>
      <p:sp>
        <p:nvSpPr>
          <p:cNvPr id="7" name="Type example"/>
          <p:cNvSpPr txBox="1"/>
          <p:nvPr/>
        </p:nvSpPr>
        <p:spPr>
          <a:xfrm>
            <a:off x="2606040" y="2423160"/>
            <a:ext cx="5303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Example 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 agent that learns to play a game</a:t>
            </a:r>
            <a:endParaRPr lang="en-US" sz="1600" dirty="0"/>
          </a:p>
        </p:txBody>
      </p:sp>
      <p:sp>
        <p:nvSpPr>
          <p:cNvPr id="8" name="Scope tag"/>
          <p:cNvSpPr/>
          <p:nvPr/>
        </p:nvSpPr>
        <p:spPr>
          <a:xfrm>
            <a:off x="2377440" y="3703320"/>
            <a:ext cx="3108960" cy="411480"/>
          </a:xfrm>
          <a:prstGeom prst="roundRect">
            <a:avLst>
              <a:gd name="adj" fmla="val 48889"/>
            </a:avLst>
          </a:prstGeom>
          <a:solidFill>
            <a:srgbClr val="E9EEF5"/>
          </a:solidFill>
          <a:ln w="12700">
            <a:solidFill>
              <a:srgbClr val="E9EEF5"/>
            </a:solidFill>
            <a:prstDash val="solid"/>
          </a:ln>
        </p:spPr>
      </p:sp>
      <p:sp>
        <p:nvSpPr>
          <p:cNvPr id="9" name="Scope tag text"/>
          <p:cNvSpPr txBox="1"/>
          <p:nvPr/>
        </p:nvSpPr>
        <p:spPr>
          <a:xfrm>
            <a:off x="2514600" y="37033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Not used again in this course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standard ML workflow</a:t>
            </a:r>
            <a:endParaRPr lang="en-US" sz="3000" dirty="0"/>
          </a:p>
        </p:txBody>
      </p:sp>
      <p:sp>
        <p:nvSpPr>
          <p:cNvPr id="3" name="Workflow step 1"/>
          <p:cNvSpPr/>
          <p:nvPr/>
        </p:nvSpPr>
        <p:spPr>
          <a:xfrm>
            <a:off x="548640" y="1554480"/>
            <a:ext cx="1771650" cy="1554480"/>
          </a:xfrm>
          <a:prstGeom prst="roundRect">
            <a:avLst>
              <a:gd name="adj" fmla="val 7059"/>
            </a:avLst>
          </a:prstGeom>
          <a:solidFill>
            <a:srgbClr val="0F1F33"/>
          </a:solidFill>
          <a:ln w="12700">
            <a:solidFill>
              <a:srgbClr val="0F1F33"/>
            </a:solidFill>
            <a:prstDash val="solid"/>
          </a:ln>
        </p:spPr>
      </p:sp>
      <p:sp>
        <p:nvSpPr>
          <p:cNvPr id="4" name="Workflow num 1"/>
          <p:cNvSpPr txBox="1"/>
          <p:nvPr/>
        </p:nvSpPr>
        <p:spPr>
          <a:xfrm>
            <a:off x="731520" y="1645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Workflow text 1"/>
          <p:cNvSpPr txBox="1"/>
          <p:nvPr/>
        </p:nvSpPr>
        <p:spPr>
          <a:xfrm>
            <a:off x="731520" y="2103120"/>
            <a:ext cx="14058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Collect &amp; prepare data</a:t>
            </a:r>
            <a:endParaRPr lang="en-US" sz="1600" dirty="0"/>
          </a:p>
        </p:txBody>
      </p:sp>
      <p:sp>
        <p:nvSpPr>
          <p:cNvPr id="6" name="Workflow session 1"/>
          <p:cNvSpPr txBox="1"/>
          <p:nvPr/>
        </p:nvSpPr>
        <p:spPr>
          <a:xfrm>
            <a:off x="548640" y="3246120"/>
            <a:ext cx="17716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Session 2</a:t>
            </a:r>
            <a:endParaRPr lang="en-US" sz="1200" dirty="0"/>
          </a:p>
        </p:txBody>
      </p:sp>
      <p:sp>
        <p:nvSpPr>
          <p:cNvPr id="7" name="Workflow arrow 1"/>
          <p:cNvSpPr txBox="1"/>
          <p:nvPr/>
        </p:nvSpPr>
        <p:spPr>
          <a:xfrm>
            <a:off x="2320290" y="210312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Workflow step 2"/>
          <p:cNvSpPr/>
          <p:nvPr/>
        </p:nvSpPr>
        <p:spPr>
          <a:xfrm>
            <a:off x="2640330" y="1554480"/>
            <a:ext cx="177165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9EEF5"/>
            </a:solidFill>
            <a:prstDash val="solid"/>
          </a:ln>
        </p:spPr>
      </p:sp>
      <p:sp>
        <p:nvSpPr>
          <p:cNvPr id="9" name="Workflow num 2"/>
          <p:cNvSpPr txBox="1"/>
          <p:nvPr/>
        </p:nvSpPr>
        <p:spPr>
          <a:xfrm>
            <a:off x="2823210" y="1645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2</a:t>
            </a:r>
            <a:endParaRPr lang="en-US" sz="2400" dirty="0"/>
          </a:p>
        </p:txBody>
      </p:sp>
      <p:sp>
        <p:nvSpPr>
          <p:cNvPr id="10" name="Workflow text 2"/>
          <p:cNvSpPr txBox="1"/>
          <p:nvPr/>
        </p:nvSpPr>
        <p:spPr>
          <a:xfrm>
            <a:off x="2823210" y="2103120"/>
            <a:ext cx="14058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Train a model</a:t>
            </a:r>
            <a:endParaRPr lang="en-US" sz="1600" dirty="0"/>
          </a:p>
        </p:txBody>
      </p:sp>
      <p:sp>
        <p:nvSpPr>
          <p:cNvPr id="11" name="Workflow session 2"/>
          <p:cNvSpPr txBox="1"/>
          <p:nvPr/>
        </p:nvSpPr>
        <p:spPr>
          <a:xfrm>
            <a:off x="2640330" y="3246120"/>
            <a:ext cx="17716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Sessions 3–5</a:t>
            </a:r>
            <a:endParaRPr lang="en-US" sz="1200" dirty="0"/>
          </a:p>
        </p:txBody>
      </p:sp>
      <p:sp>
        <p:nvSpPr>
          <p:cNvPr id="12" name="Workflow arrow 2"/>
          <p:cNvSpPr txBox="1"/>
          <p:nvPr/>
        </p:nvSpPr>
        <p:spPr>
          <a:xfrm>
            <a:off x="4411980" y="210312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Workflow step 3"/>
          <p:cNvSpPr/>
          <p:nvPr/>
        </p:nvSpPr>
        <p:spPr>
          <a:xfrm>
            <a:off x="4732020" y="1554480"/>
            <a:ext cx="177165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9EEF5"/>
            </a:solidFill>
            <a:prstDash val="solid"/>
          </a:ln>
        </p:spPr>
      </p:sp>
      <p:sp>
        <p:nvSpPr>
          <p:cNvPr id="14" name="Workflow num 3"/>
          <p:cNvSpPr txBox="1"/>
          <p:nvPr/>
        </p:nvSpPr>
        <p:spPr>
          <a:xfrm>
            <a:off x="4914900" y="1645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3</a:t>
            </a:r>
            <a:endParaRPr lang="en-US" sz="2400" dirty="0"/>
          </a:p>
        </p:txBody>
      </p:sp>
      <p:sp>
        <p:nvSpPr>
          <p:cNvPr id="15" name="Workflow text 3"/>
          <p:cNvSpPr txBox="1"/>
          <p:nvPr/>
        </p:nvSpPr>
        <p:spPr>
          <a:xfrm>
            <a:off x="4914900" y="2103120"/>
            <a:ext cx="14058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Evaluate</a:t>
            </a:r>
            <a:endParaRPr lang="en-US" sz="1600" dirty="0"/>
          </a:p>
        </p:txBody>
      </p:sp>
      <p:sp>
        <p:nvSpPr>
          <p:cNvPr id="16" name="Workflow session 3"/>
          <p:cNvSpPr txBox="1"/>
          <p:nvPr/>
        </p:nvSpPr>
        <p:spPr>
          <a:xfrm>
            <a:off x="4732020" y="3246120"/>
            <a:ext cx="17716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Sessions 3–5</a:t>
            </a:r>
            <a:endParaRPr lang="en-US" sz="1200" dirty="0"/>
          </a:p>
        </p:txBody>
      </p:sp>
      <p:sp>
        <p:nvSpPr>
          <p:cNvPr id="17" name="Workflow arrow 3"/>
          <p:cNvSpPr txBox="1"/>
          <p:nvPr/>
        </p:nvSpPr>
        <p:spPr>
          <a:xfrm>
            <a:off x="6503670" y="210312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Workflow step 4"/>
          <p:cNvSpPr/>
          <p:nvPr/>
        </p:nvSpPr>
        <p:spPr>
          <a:xfrm>
            <a:off x="6823710" y="1554480"/>
            <a:ext cx="177165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9EEF5"/>
            </a:solidFill>
            <a:prstDash val="solid"/>
          </a:ln>
        </p:spPr>
      </p:sp>
      <p:sp>
        <p:nvSpPr>
          <p:cNvPr id="19" name="Workflow num 4"/>
          <p:cNvSpPr txBox="1"/>
          <p:nvPr/>
        </p:nvSpPr>
        <p:spPr>
          <a:xfrm>
            <a:off x="7006590" y="1645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4</a:t>
            </a:r>
            <a:endParaRPr lang="en-US" sz="2400" dirty="0"/>
          </a:p>
        </p:txBody>
      </p:sp>
      <p:sp>
        <p:nvSpPr>
          <p:cNvPr id="20" name="Workflow text 4"/>
          <p:cNvSpPr txBox="1"/>
          <p:nvPr/>
        </p:nvSpPr>
        <p:spPr>
          <a:xfrm>
            <a:off x="7006590" y="2103120"/>
            <a:ext cx="14058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Use</a:t>
            </a:r>
            <a:endParaRPr lang="en-US" sz="1600" dirty="0"/>
          </a:p>
        </p:txBody>
      </p:sp>
      <p:sp>
        <p:nvSpPr>
          <p:cNvPr id="21" name="Workflow session 4"/>
          <p:cNvSpPr txBox="1"/>
          <p:nvPr/>
        </p:nvSpPr>
        <p:spPr>
          <a:xfrm>
            <a:off x="6823710" y="3246120"/>
            <a:ext cx="17716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Session 6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reak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822960" cy="822960"/>
          </a:xfrm>
          <a:prstGeom prst="rect">
            <a:avLst/>
          </a:prstGeom>
        </p:spPr>
      </p:pic>
      <p:sp>
        <p:nvSpPr>
          <p:cNvPr id="3" name="Break minutes"/>
          <p:cNvSpPr txBox="1"/>
          <p:nvPr/>
        </p:nvSpPr>
        <p:spPr>
          <a:xfrm>
            <a:off x="548640" y="19202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chemeClr val="accent2"/>
                </a:solidFill>
              </a:rPr>
              <a:t>10</a:t>
            </a:r>
            <a:endParaRPr lang="en-US" sz="9600" dirty="0"/>
          </a:p>
        </p:txBody>
      </p:sp>
      <p:sp>
        <p:nvSpPr>
          <p:cNvPr id="4" name="Break label"/>
          <p:cNvSpPr txBox="1"/>
          <p:nvPr/>
        </p:nvSpPr>
        <p:spPr>
          <a:xfrm>
            <a:off x="2148840" y="23317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minute break</a:t>
            </a:r>
            <a:endParaRPr lang="en-US" sz="3000" dirty="0"/>
          </a:p>
        </p:txBody>
      </p:sp>
      <p:sp>
        <p:nvSpPr>
          <p:cNvPr id="5" name="Break next"/>
          <p:cNvSpPr txBox="1"/>
          <p:nvPr/>
        </p:nvSpPr>
        <p:spPr>
          <a:xfrm>
            <a:off x="548640" y="3566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Back for hands-on setup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vity eyebrow"/>
          <p:cNvSpPr txBox="1"/>
          <p:nvPr/>
        </p:nvSpPr>
        <p:spPr>
          <a:xfrm>
            <a:off x="548640" y="4114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ACTIVITY 2 · 35 MIN · INDIVIDUAL</a:t>
            </a:r>
            <a:endParaRPr lang="en-US" sz="1200" dirty="0"/>
          </a:p>
        </p:txBody>
      </p:sp>
      <p:sp>
        <p:nvSpPr>
          <p:cNvPr id="3" name="Activity title"/>
          <p:cNvSpPr txBox="1"/>
          <p:nvPr/>
        </p:nvSpPr>
        <p:spPr>
          <a:xfrm>
            <a:off x="548640" y="7315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Set up your environment</a:t>
            </a:r>
            <a:endParaRPr lang="en-US" sz="3000" dirty="0"/>
          </a:p>
        </p:txBody>
      </p:sp>
      <p:sp>
        <p:nvSpPr>
          <p:cNvPr id="4" name="Step card 1"/>
          <p:cNvSpPr/>
          <p:nvPr/>
        </p:nvSpPr>
        <p:spPr>
          <a:xfrm>
            <a:off x="548640" y="1645920"/>
            <a:ext cx="2529840" cy="1874520"/>
          </a:xfrm>
          <a:prstGeom prst="roundRect">
            <a:avLst>
              <a:gd name="adj" fmla="val 5854"/>
            </a:avLst>
          </a:prstGeom>
          <a:solidFill>
            <a:srgbClr val="1B3150"/>
          </a:solidFill>
          <a:ln w="12700">
            <a:solidFill>
              <a:srgbClr val="1B3150"/>
            </a:solidFill>
            <a:prstDash val="solid"/>
          </a:ln>
        </p:spPr>
      </p:sp>
      <p:sp>
        <p:nvSpPr>
          <p:cNvPr id="5" name="Step num 1"/>
          <p:cNvSpPr txBox="1"/>
          <p:nvPr/>
        </p:nvSpPr>
        <p:spPr>
          <a:xfrm>
            <a:off x="77724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Step text 1"/>
          <p:cNvSpPr txBox="1"/>
          <p:nvPr/>
        </p:nvSpPr>
        <p:spPr>
          <a:xfrm>
            <a:off x="777240" y="2377440"/>
            <a:ext cx="207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Install the libraries</a:t>
            </a:r>
            <a:endParaRPr lang="en-US" sz="1400" dirty="0"/>
          </a:p>
        </p:txBody>
      </p:sp>
      <p:sp>
        <p:nvSpPr>
          <p:cNvPr id="7" name="Step code 1"/>
          <p:cNvSpPr txBox="1"/>
          <p:nvPr/>
        </p:nvSpPr>
        <p:spPr>
          <a:xfrm>
            <a:off x="777240" y="2788920"/>
            <a:ext cx="207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pandas scikit-learn jupyter</a:t>
            </a:r>
            <a:endParaRPr lang="en-US" sz="1200" dirty="0"/>
          </a:p>
        </p:txBody>
      </p:sp>
      <p:sp>
        <p:nvSpPr>
          <p:cNvPr id="8" name="Step card 2"/>
          <p:cNvSpPr/>
          <p:nvPr/>
        </p:nvSpPr>
        <p:spPr>
          <a:xfrm>
            <a:off x="3307080" y="1645920"/>
            <a:ext cx="2529840" cy="1874520"/>
          </a:xfrm>
          <a:prstGeom prst="roundRect">
            <a:avLst>
              <a:gd name="adj" fmla="val 5854"/>
            </a:avLst>
          </a:prstGeom>
          <a:solidFill>
            <a:srgbClr val="1B3150"/>
          </a:solidFill>
          <a:ln w="12700">
            <a:solidFill>
              <a:srgbClr val="1B3150"/>
            </a:solidFill>
            <a:prstDash val="solid"/>
          </a:ln>
        </p:spPr>
      </p:sp>
      <p:sp>
        <p:nvSpPr>
          <p:cNvPr id="9" name="Step num 2"/>
          <p:cNvSpPr txBox="1"/>
          <p:nvPr/>
        </p:nvSpPr>
        <p:spPr>
          <a:xfrm>
            <a:off x="353568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10" name="Step text 2"/>
          <p:cNvSpPr txBox="1"/>
          <p:nvPr/>
        </p:nvSpPr>
        <p:spPr>
          <a:xfrm>
            <a:off x="3535680" y="2377440"/>
            <a:ext cx="207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Open the notebook</a:t>
            </a:r>
            <a:endParaRPr lang="en-US" sz="1400" dirty="0"/>
          </a:p>
        </p:txBody>
      </p:sp>
      <p:sp>
        <p:nvSpPr>
          <p:cNvPr id="11" name="Step code 2"/>
          <p:cNvSpPr txBox="1"/>
          <p:nvPr/>
        </p:nvSpPr>
        <p:spPr>
          <a:xfrm>
            <a:off x="3535680" y="2788920"/>
            <a:ext cx="207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session-01-student.ipynb</a:t>
            </a:r>
            <a:endParaRPr lang="en-US" sz="1200" dirty="0"/>
          </a:p>
        </p:txBody>
      </p:sp>
      <p:sp>
        <p:nvSpPr>
          <p:cNvPr id="12" name="Step card 3"/>
          <p:cNvSpPr/>
          <p:nvPr/>
        </p:nvSpPr>
        <p:spPr>
          <a:xfrm>
            <a:off x="6065520" y="1645920"/>
            <a:ext cx="2529840" cy="1874520"/>
          </a:xfrm>
          <a:prstGeom prst="roundRect">
            <a:avLst>
              <a:gd name="adj" fmla="val 5854"/>
            </a:avLst>
          </a:prstGeom>
          <a:solidFill>
            <a:srgbClr val="1B3150"/>
          </a:solidFill>
          <a:ln w="12700">
            <a:solidFill>
              <a:srgbClr val="1B3150"/>
            </a:solidFill>
            <a:prstDash val="solid"/>
          </a:ln>
        </p:spPr>
      </p:sp>
      <p:sp>
        <p:nvSpPr>
          <p:cNvPr id="13" name="Step num 3"/>
          <p:cNvSpPr txBox="1"/>
          <p:nvPr/>
        </p:nvSpPr>
        <p:spPr>
          <a:xfrm>
            <a:off x="629412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3</a:t>
            </a:r>
            <a:endParaRPr lang="en-US" sz="3000" dirty="0"/>
          </a:p>
        </p:txBody>
      </p:sp>
      <p:sp>
        <p:nvSpPr>
          <p:cNvPr id="14" name="Step text 3"/>
          <p:cNvSpPr txBox="1"/>
          <p:nvPr/>
        </p:nvSpPr>
        <p:spPr>
          <a:xfrm>
            <a:off x="6294120" y="2377440"/>
            <a:ext cx="207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Run the smoke test</a:t>
            </a:r>
            <a:endParaRPr lang="en-US" sz="1400" dirty="0"/>
          </a:p>
        </p:txBody>
      </p:sp>
      <p:sp>
        <p:nvSpPr>
          <p:cNvPr id="15" name="Step code 3"/>
          <p:cNvSpPr txBox="1"/>
          <p:nvPr/>
        </p:nvSpPr>
        <p:spPr>
          <a:xfrm>
            <a:off x="6294120" y="2788920"/>
            <a:ext cx="207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 shape (150, 4)</a:t>
            </a:r>
            <a:endParaRPr lang="en-US" sz="1200" dirty="0"/>
          </a:p>
        </p:txBody>
      </p:sp>
      <p:sp>
        <p:nvSpPr>
          <p:cNvPr id="16" name="Outcome pill"/>
          <p:cNvSpPr/>
          <p:nvPr/>
        </p:nvSpPr>
        <p:spPr>
          <a:xfrm>
            <a:off x="548640" y="3840480"/>
            <a:ext cx="8046720" cy="548640"/>
          </a:xfrm>
          <a:prstGeom prst="roundRect">
            <a:avLst>
              <a:gd name="adj" fmla="val 50000"/>
            </a:avLst>
          </a:prstGeom>
          <a:solidFill>
            <a:srgbClr val="F0B44C"/>
          </a:solidFill>
          <a:ln w="12700">
            <a:solidFill>
              <a:srgbClr val="F0B44C"/>
            </a:solidFill>
            <a:prstDash val="solid"/>
          </a:ln>
        </p:spPr>
      </p:sp>
      <p:sp>
        <p:nvSpPr>
          <p:cNvPr id="17" name="Outcome"/>
          <p:cNvSpPr txBox="1"/>
          <p:nvPr/>
        </p:nvSpPr>
        <p:spPr>
          <a:xfrm>
            <a:off x="822960" y="38404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Outcome: imports run with no errors and the iris data prints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Exit ticket</a:t>
            </a:r>
            <a:endParaRPr lang="en-US" sz="3000" dirty="0"/>
          </a:p>
        </p:txBody>
      </p:sp>
      <p:sp>
        <p:nvSpPr>
          <p:cNvPr id="3" name="Exit stat 1"/>
          <p:cNvSpPr/>
          <p:nvPr/>
        </p:nvSpPr>
        <p:spPr>
          <a:xfrm>
            <a:off x="548640" y="1371600"/>
            <a:ext cx="25146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9EEF5"/>
            </a:solidFill>
            <a:prstDash val="solid"/>
          </a:ln>
        </p:spPr>
      </p:sp>
      <p:sp>
        <p:nvSpPr>
          <p:cNvPr id="4" name="Exit num 1"/>
          <p:cNvSpPr txBox="1"/>
          <p:nvPr/>
        </p:nvSpPr>
        <p:spPr>
          <a:xfrm>
            <a:off x="548640" y="155448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5</a:t>
            </a:r>
            <a:endParaRPr lang="en-US" sz="6000" dirty="0"/>
          </a:p>
        </p:txBody>
      </p:sp>
      <p:sp>
        <p:nvSpPr>
          <p:cNvPr id="5" name="Exit label 1"/>
          <p:cNvSpPr txBox="1"/>
          <p:nvPr/>
        </p:nvSpPr>
        <p:spPr>
          <a:xfrm>
            <a:off x="548640" y="26517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questions</a:t>
            </a:r>
            <a:endParaRPr lang="en-US" sz="1600" dirty="0"/>
          </a:p>
        </p:txBody>
      </p:sp>
      <p:sp>
        <p:nvSpPr>
          <p:cNvPr id="6" name="Exit stat 2"/>
          <p:cNvSpPr/>
          <p:nvPr/>
        </p:nvSpPr>
        <p:spPr>
          <a:xfrm>
            <a:off x="3246120" y="1371600"/>
            <a:ext cx="25146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9EEF5"/>
            </a:solidFill>
            <a:prstDash val="solid"/>
          </a:ln>
        </p:spPr>
      </p:sp>
      <p:sp>
        <p:nvSpPr>
          <p:cNvPr id="7" name="Exit num 2"/>
          <p:cNvSpPr txBox="1"/>
          <p:nvPr/>
        </p:nvSpPr>
        <p:spPr>
          <a:xfrm>
            <a:off x="3246120" y="155448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5</a:t>
            </a:r>
            <a:endParaRPr lang="en-US" sz="6000" dirty="0"/>
          </a:p>
        </p:txBody>
      </p:sp>
      <p:sp>
        <p:nvSpPr>
          <p:cNvPr id="8" name="Exit label 2"/>
          <p:cNvSpPr txBox="1"/>
          <p:nvPr/>
        </p:nvSpPr>
        <p:spPr>
          <a:xfrm>
            <a:off x="3246120" y="26517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minutes</a:t>
            </a:r>
            <a:endParaRPr lang="en-US" sz="1600" dirty="0"/>
          </a:p>
        </p:txBody>
      </p:sp>
      <p:sp>
        <p:nvSpPr>
          <p:cNvPr id="9" name="Exit stat 3"/>
          <p:cNvSpPr/>
          <p:nvPr/>
        </p:nvSpPr>
        <p:spPr>
          <a:xfrm>
            <a:off x="5943600" y="1371600"/>
            <a:ext cx="25146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9EEF5"/>
            </a:solidFill>
            <a:prstDash val="solid"/>
          </a:ln>
        </p:spPr>
      </p:sp>
      <p:sp>
        <p:nvSpPr>
          <p:cNvPr id="10" name="Exit num 3"/>
          <p:cNvSpPr txBox="1"/>
          <p:nvPr/>
        </p:nvSpPr>
        <p:spPr>
          <a:xfrm>
            <a:off x="5943600" y="155448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0</a:t>
            </a:r>
            <a:endParaRPr lang="en-US" sz="6000" dirty="0"/>
          </a:p>
        </p:txBody>
      </p:sp>
      <p:sp>
        <p:nvSpPr>
          <p:cNvPr id="11" name="Exit label 3"/>
          <p:cNvSpPr txBox="1"/>
          <p:nvPr/>
        </p:nvSpPr>
        <p:spPr>
          <a:xfrm>
            <a:off x="5943600" y="26517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grades</a:t>
            </a:r>
            <a:endParaRPr lang="en-US" sz="1600" dirty="0"/>
          </a:p>
        </p:txBody>
      </p:sp>
      <p:sp>
        <p:nvSpPr>
          <p:cNvPr id="12" name="Exit instruction"/>
          <p:cNvSpPr txBox="1"/>
          <p:nvPr/>
        </p:nvSpPr>
        <p:spPr>
          <a:xfrm>
            <a:off x="548640" y="3749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Answer on the handout. It tells us what to revisit next time.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we covered</a:t>
            </a:r>
            <a:endParaRPr lang="en-US" sz="3000" dirty="0"/>
          </a:p>
        </p:txBody>
      </p:sp>
      <p:sp>
        <p:nvSpPr>
          <p:cNvPr id="3" name="Recap dot 1"/>
          <p:cNvSpPr/>
          <p:nvPr/>
        </p:nvSpPr>
        <p:spPr>
          <a:xfrm>
            <a:off x="548640" y="1280160"/>
            <a:ext cx="457200" cy="457200"/>
          </a:xfrm>
          <a:prstGeom prst="ellipse">
            <a:avLst/>
          </a:prstGeom>
          <a:solidFill>
            <a:srgbClr val="1F5FC9"/>
          </a:solidFill>
          <a:ln w="12700">
            <a:solidFill>
              <a:srgbClr val="1F5FC9"/>
            </a:solidFill>
            <a:prstDash val="solid"/>
          </a:ln>
        </p:spPr>
      </p:sp>
      <p:sp>
        <p:nvSpPr>
          <p:cNvPr id="4" name="Recap check 1"/>
          <p:cNvSpPr txBox="1"/>
          <p:nvPr/>
        </p:nvSpPr>
        <p:spPr>
          <a:xfrm>
            <a:off x="5486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✓</a:t>
            </a:r>
            <a:endParaRPr lang="en-US" sz="1600" dirty="0"/>
          </a:p>
        </p:txBody>
      </p:sp>
      <p:sp>
        <p:nvSpPr>
          <p:cNvPr id="5" name="Recap text 1"/>
          <p:cNvSpPr txBox="1"/>
          <p:nvPr/>
        </p:nvSpPr>
        <p:spPr>
          <a:xfrm>
            <a:off x="1280160" y="118872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ML learns patterns from data</a:t>
            </a:r>
            <a:endParaRPr lang="en-US" sz="2000" dirty="0"/>
          </a:p>
        </p:txBody>
      </p:sp>
      <p:sp>
        <p:nvSpPr>
          <p:cNvPr id="6" name="Recap dot 2"/>
          <p:cNvSpPr/>
          <p:nvPr/>
        </p:nvSpPr>
        <p:spPr>
          <a:xfrm>
            <a:off x="548640" y="2084832"/>
            <a:ext cx="457200" cy="457200"/>
          </a:xfrm>
          <a:prstGeom prst="ellipse">
            <a:avLst/>
          </a:prstGeom>
          <a:solidFill>
            <a:srgbClr val="1F5FC9"/>
          </a:solidFill>
          <a:ln w="12700">
            <a:solidFill>
              <a:srgbClr val="1F5FC9"/>
            </a:solidFill>
            <a:prstDash val="solid"/>
          </a:ln>
        </p:spPr>
      </p:sp>
      <p:sp>
        <p:nvSpPr>
          <p:cNvPr id="7" name="Recap check 2"/>
          <p:cNvSpPr txBox="1"/>
          <p:nvPr/>
        </p:nvSpPr>
        <p:spPr>
          <a:xfrm>
            <a:off x="54864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✓</a:t>
            </a:r>
            <a:endParaRPr lang="en-US" sz="1600" dirty="0"/>
          </a:p>
        </p:txBody>
      </p:sp>
      <p:sp>
        <p:nvSpPr>
          <p:cNvPr id="8" name="Recap text 2"/>
          <p:cNvSpPr txBox="1"/>
          <p:nvPr/>
        </p:nvSpPr>
        <p:spPr>
          <a:xfrm>
            <a:off x="1280160" y="1993392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3 types: supervised, unsupervised, reinforcement</a:t>
            </a:r>
            <a:endParaRPr lang="en-US" sz="2000" dirty="0"/>
          </a:p>
        </p:txBody>
      </p:sp>
      <p:sp>
        <p:nvSpPr>
          <p:cNvPr id="9" name="Recap dot 3"/>
          <p:cNvSpPr/>
          <p:nvPr/>
        </p:nvSpPr>
        <p:spPr>
          <a:xfrm>
            <a:off x="548640" y="2889504"/>
            <a:ext cx="457200" cy="457200"/>
          </a:xfrm>
          <a:prstGeom prst="ellipse">
            <a:avLst/>
          </a:prstGeom>
          <a:solidFill>
            <a:srgbClr val="1F5FC9"/>
          </a:solidFill>
          <a:ln w="12700">
            <a:solidFill>
              <a:srgbClr val="1F5FC9"/>
            </a:solidFill>
            <a:prstDash val="solid"/>
          </a:ln>
        </p:spPr>
      </p:sp>
      <p:sp>
        <p:nvSpPr>
          <p:cNvPr id="10" name="Recap check 3"/>
          <p:cNvSpPr txBox="1"/>
          <p:nvPr/>
        </p:nvSpPr>
        <p:spPr>
          <a:xfrm>
            <a:off x="548640" y="2889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Recap text 3"/>
          <p:cNvSpPr txBox="1"/>
          <p:nvPr/>
        </p:nvSpPr>
        <p:spPr>
          <a:xfrm>
            <a:off x="1280160" y="2798064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Workflow: data → train → evaluate → use</a:t>
            </a:r>
            <a:endParaRPr lang="en-US" sz="2000" dirty="0"/>
          </a:p>
        </p:txBody>
      </p:sp>
      <p:sp>
        <p:nvSpPr>
          <p:cNvPr id="12" name="Recap dot 4"/>
          <p:cNvSpPr/>
          <p:nvPr/>
        </p:nvSpPr>
        <p:spPr>
          <a:xfrm>
            <a:off x="548640" y="3694176"/>
            <a:ext cx="457200" cy="457200"/>
          </a:xfrm>
          <a:prstGeom prst="ellipse">
            <a:avLst/>
          </a:prstGeom>
          <a:solidFill>
            <a:srgbClr val="1F5FC9"/>
          </a:solidFill>
          <a:ln w="12700">
            <a:solidFill>
              <a:srgbClr val="1F5FC9"/>
            </a:solidFill>
            <a:prstDash val="solid"/>
          </a:ln>
        </p:spPr>
      </p:sp>
      <p:sp>
        <p:nvSpPr>
          <p:cNvPr id="13" name="Recap check 4"/>
          <p:cNvSpPr txBox="1"/>
          <p:nvPr/>
        </p:nvSpPr>
        <p:spPr>
          <a:xfrm>
            <a:off x="548640" y="3694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✓</a:t>
            </a:r>
            <a:endParaRPr lang="en-US" sz="1600" dirty="0"/>
          </a:p>
        </p:txBody>
      </p:sp>
      <p:sp>
        <p:nvSpPr>
          <p:cNvPr id="14" name="Recap text 4"/>
          <p:cNvSpPr txBox="1"/>
          <p:nvPr/>
        </p:nvSpPr>
        <p:spPr>
          <a:xfrm>
            <a:off x="1280160" y="3602736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Your environment works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A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9080" y="1097280"/>
            <a:ext cx="1005840" cy="1005840"/>
          </a:xfrm>
          <a:prstGeom prst="rect">
            <a:avLst/>
          </a:prstGeom>
        </p:spPr>
      </p:pic>
      <p:sp>
        <p:nvSpPr>
          <p:cNvPr id="3" name="QA title"/>
          <p:cNvSpPr txBox="1"/>
          <p:nvPr/>
        </p:nvSpPr>
        <p:spPr>
          <a:xfrm>
            <a:off x="914400" y="22860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Questions?</a:t>
            </a:r>
            <a:endParaRPr lang="en-US" sz="5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Stay in touch</a:t>
            </a:r>
            <a:endParaRPr lang="en-US" sz="3000" dirty="0"/>
          </a:p>
        </p:txBody>
      </p:sp>
      <p:sp>
        <p:nvSpPr>
          <p:cNvPr id="3" name="Contact card 1"/>
          <p:cNvSpPr/>
          <p:nvPr/>
        </p:nvSpPr>
        <p:spPr>
          <a:xfrm>
            <a:off x="548640" y="1143000"/>
            <a:ext cx="3931920" cy="1051560"/>
          </a:xfrm>
          <a:prstGeom prst="roundRect">
            <a:avLst>
              <a:gd name="adj" fmla="val 10435"/>
            </a:avLst>
          </a:prstGeom>
          <a:solidFill>
            <a:srgbClr val="1F5FC9"/>
          </a:solidFill>
          <a:ln w="12700">
            <a:solidFill>
              <a:srgbClr val="1F5FC9"/>
            </a:solidFill>
            <a:prstDash val="solid"/>
          </a:ln>
        </p:spPr>
      </p:sp>
      <p:pic>
        <p:nvPicPr>
          <p:cNvPr id="4" name="Contact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17320"/>
            <a:ext cx="502920" cy="502920"/>
          </a:xfrm>
          <a:prstGeom prst="rect">
            <a:avLst/>
          </a:prstGeom>
        </p:spPr>
      </p:pic>
      <p:sp>
        <p:nvSpPr>
          <p:cNvPr id="5" name="Contact label 1"/>
          <p:cNvSpPr txBox="1"/>
          <p:nvPr/>
        </p:nvSpPr>
        <p:spPr>
          <a:xfrm>
            <a:off x="155448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LinkedIn</a:t>
            </a:r>
            <a:endParaRPr lang="en-US" sz="1400" dirty="0"/>
          </a:p>
        </p:txBody>
      </p:sp>
      <p:sp>
        <p:nvSpPr>
          <p:cNvPr id="6" name="Contact value 1"/>
          <p:cNvSpPr txBox="1"/>
          <p:nvPr/>
        </p:nvSpPr>
        <p:spPr>
          <a:xfrm>
            <a:off x="1554480" y="1645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[linkedin.com/in/your-handle]</a:t>
            </a:r>
            <a:endParaRPr lang="en-US" sz="1300" dirty="0"/>
          </a:p>
        </p:txBody>
      </p:sp>
      <p:sp>
        <p:nvSpPr>
          <p:cNvPr id="7" name="Contact card 2"/>
          <p:cNvSpPr/>
          <p:nvPr/>
        </p:nvSpPr>
        <p:spPr>
          <a:xfrm>
            <a:off x="4617720" y="1143000"/>
            <a:ext cx="39319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9EEF5"/>
            </a:solidFill>
            <a:prstDash val="solid"/>
          </a:ln>
        </p:spPr>
      </p:sp>
      <p:pic>
        <p:nvPicPr>
          <p:cNvPr id="8" name="Contact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417320"/>
            <a:ext cx="502920" cy="502920"/>
          </a:xfrm>
          <a:prstGeom prst="rect">
            <a:avLst/>
          </a:prstGeom>
        </p:spPr>
      </p:pic>
      <p:sp>
        <p:nvSpPr>
          <p:cNvPr id="9" name="Contact label 2"/>
          <p:cNvSpPr txBox="1"/>
          <p:nvPr/>
        </p:nvSpPr>
        <p:spPr>
          <a:xfrm>
            <a:off x="562356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WhatsApp</a:t>
            </a:r>
            <a:endParaRPr lang="en-US" sz="1400" dirty="0"/>
          </a:p>
        </p:txBody>
      </p:sp>
      <p:sp>
        <p:nvSpPr>
          <p:cNvPr id="10" name="Contact value 2"/>
          <p:cNvSpPr txBox="1"/>
          <p:nvPr/>
        </p:nvSpPr>
        <p:spPr>
          <a:xfrm>
            <a:off x="5623560" y="1645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[Phone with country code]</a:t>
            </a:r>
            <a:endParaRPr lang="en-US" sz="1300" dirty="0"/>
          </a:p>
        </p:txBody>
      </p:sp>
      <p:sp>
        <p:nvSpPr>
          <p:cNvPr id="11" name="Contact card 3"/>
          <p:cNvSpPr/>
          <p:nvPr/>
        </p:nvSpPr>
        <p:spPr>
          <a:xfrm>
            <a:off x="548640" y="2377440"/>
            <a:ext cx="39319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9EEF5"/>
            </a:solidFill>
            <a:prstDash val="solid"/>
          </a:ln>
        </p:spPr>
      </p:sp>
      <p:pic>
        <p:nvPicPr>
          <p:cNvPr id="12" name="Contact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651760"/>
            <a:ext cx="502920" cy="502920"/>
          </a:xfrm>
          <a:prstGeom prst="rect">
            <a:avLst/>
          </a:prstGeom>
        </p:spPr>
      </p:pic>
      <p:sp>
        <p:nvSpPr>
          <p:cNvPr id="13" name="Contact label 3"/>
          <p:cNvSpPr txBox="1"/>
          <p:nvPr/>
        </p:nvSpPr>
        <p:spPr>
          <a:xfrm>
            <a:off x="1554480" y="2514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Email</a:t>
            </a:r>
            <a:endParaRPr lang="en-US" sz="1400" dirty="0"/>
          </a:p>
        </p:txBody>
      </p:sp>
      <p:sp>
        <p:nvSpPr>
          <p:cNvPr id="14" name="Contact value 3"/>
          <p:cNvSpPr txBox="1"/>
          <p:nvPr/>
        </p:nvSpPr>
        <p:spPr>
          <a:xfrm>
            <a:off x="1554480" y="28803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[Email address]</a:t>
            </a:r>
            <a:endParaRPr lang="en-US" sz="1300" dirty="0"/>
          </a:p>
        </p:txBody>
      </p:sp>
      <p:sp>
        <p:nvSpPr>
          <p:cNvPr id="15" name="Contact card 4"/>
          <p:cNvSpPr/>
          <p:nvPr/>
        </p:nvSpPr>
        <p:spPr>
          <a:xfrm>
            <a:off x="4617720" y="2377440"/>
            <a:ext cx="39319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9EEF5"/>
            </a:solidFill>
            <a:prstDash val="solid"/>
          </a:ln>
        </p:spPr>
      </p:sp>
      <p:pic>
        <p:nvPicPr>
          <p:cNvPr id="16" name="Contact icon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651760"/>
            <a:ext cx="502920" cy="502920"/>
          </a:xfrm>
          <a:prstGeom prst="rect">
            <a:avLst/>
          </a:prstGeom>
        </p:spPr>
      </p:pic>
      <p:sp>
        <p:nvSpPr>
          <p:cNvPr id="17" name="Contact label 4"/>
          <p:cNvSpPr txBox="1"/>
          <p:nvPr/>
        </p:nvSpPr>
        <p:spPr>
          <a:xfrm>
            <a:off x="5623560" y="2514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Portfolio</a:t>
            </a:r>
            <a:endParaRPr lang="en-US" sz="1400" dirty="0"/>
          </a:p>
        </p:txBody>
      </p:sp>
      <p:sp>
        <p:nvSpPr>
          <p:cNvPr id="18" name="Contact value 4"/>
          <p:cNvSpPr txBox="1"/>
          <p:nvPr/>
        </p:nvSpPr>
        <p:spPr>
          <a:xfrm>
            <a:off x="5623560" y="28803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[your-site.example]</a:t>
            </a:r>
            <a:endParaRPr lang="en-US" sz="1300" dirty="0"/>
          </a:p>
        </p:txBody>
      </p:sp>
      <p:sp>
        <p:nvSpPr>
          <p:cNvPr id="19" name="Contact CTA"/>
          <p:cNvSpPr txBox="1"/>
          <p:nvPr/>
        </p:nvSpPr>
        <p:spPr>
          <a:xfrm>
            <a:off x="548640" y="3749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Send me your smoke-test screenshot if anything breaks before Session 2.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losing background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Deco ring 1"/>
          <p:cNvSpPr/>
          <p:nvPr/>
        </p:nvSpPr>
        <p:spPr>
          <a:xfrm>
            <a:off x="-731520" y="-822960"/>
            <a:ext cx="2377440" cy="2377440"/>
          </a:xfrm>
          <a:prstGeom prst="ellipse">
            <a:avLst/>
          </a:prstGeom>
          <a:solidFill>
            <a:srgbClr val="F0B44C">
              <a:alpha val="0"/>
            </a:srgbClr>
          </a:solidFill>
          <a:ln w="25400">
            <a:solidFill>
              <a:srgbClr val="F0B44C"/>
            </a:solidFill>
            <a:prstDash val="solid"/>
          </a:ln>
        </p:spPr>
      </p:sp>
      <p:sp>
        <p:nvSpPr>
          <p:cNvPr id="4" name="Deco circle 2"/>
          <p:cNvSpPr/>
          <p:nvPr/>
        </p:nvSpPr>
        <p:spPr>
          <a:xfrm>
            <a:off x="7589520" y="3566160"/>
            <a:ext cx="2194560" cy="2194560"/>
          </a:xfrm>
          <a:prstGeom prst="ellipse">
            <a:avLst/>
          </a:prstGeom>
          <a:solidFill>
            <a:srgbClr val="F0B44C">
              <a:alpha val="85000"/>
            </a:srgbClr>
          </a:solidFill>
          <a:ln w="12700">
            <a:solidFill>
              <a:srgbClr val="F0B44C"/>
            </a:solidFill>
            <a:prstDash val="solid"/>
          </a:ln>
        </p:spPr>
      </p:sp>
      <p:sp>
        <p:nvSpPr>
          <p:cNvPr id="5" name="Deco dot 3"/>
          <p:cNvSpPr/>
          <p:nvPr/>
        </p:nvSpPr>
        <p:spPr>
          <a:xfrm>
            <a:off x="8138160" y="457200"/>
            <a:ext cx="457200" cy="457200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hank you"/>
          <p:cNvSpPr txBox="1"/>
          <p:nvPr/>
        </p:nvSpPr>
        <p:spPr>
          <a:xfrm>
            <a:off x="731520" y="109728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chemeClr val="accent2"/>
                </a:solidFill>
              </a:rPr>
              <a:t>Thank You</a:t>
            </a:r>
            <a:endParaRPr lang="en-US" sz="7200" dirty="0"/>
          </a:p>
        </p:txBody>
      </p:sp>
      <p:sp>
        <p:nvSpPr>
          <p:cNvPr id="7" name="Next session"/>
          <p:cNvSpPr txBox="1"/>
          <p:nvPr/>
        </p:nvSpPr>
        <p:spPr>
          <a:xfrm>
            <a:off x="731520" y="2606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See you in Session 2: working with real data in pandas</a:t>
            </a:r>
            <a:endParaRPr lang="en-US" sz="1800" dirty="0"/>
          </a:p>
        </p:txBody>
      </p:sp>
      <p:sp>
        <p:nvSpPr>
          <p:cNvPr id="8" name="Closing name"/>
          <p:cNvSpPr txBox="1"/>
          <p:nvPr/>
        </p:nvSpPr>
        <p:spPr>
          <a:xfrm>
            <a:off x="731520" y="37490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[Your full name]  ·  [Instructor title]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urse Training Skills">
  <a:themeElements>
    <a:clrScheme name="Course Training Skills">
      <a:dk1>
        <a:srgbClr val="0F1F33"/>
      </a:dk1>
      <a:lt1>
        <a:srgbClr val="FFFFFF"/>
      </a:lt1>
      <a:dk2>
        <a:srgbClr val="3D4A5C"/>
      </a:dk2>
      <a:lt2>
        <a:srgbClr val="F6F4EF"/>
      </a:lt2>
      <a:accent1>
        <a:srgbClr val="1F5FC9"/>
      </a:accent1>
      <a:accent2>
        <a:srgbClr val="F0B44C"/>
      </a:accent2>
      <a:accent3>
        <a:srgbClr val="E9EEF5"/>
      </a:accent3>
      <a:accent4>
        <a:srgbClr val="2E7D5B"/>
      </a:accent4>
      <a:accent5>
        <a:srgbClr val="B4472F"/>
      </a:accent5>
      <a:accent6>
        <a:srgbClr val="8A94A6"/>
      </a:accent6>
      <a:hlink>
        <a:srgbClr val="1F5FC9"/>
      </a:hlink>
      <a:folHlink>
        <a:srgbClr val="5B3FA8"/>
      </a:folHlink>
    </a:clrScheme>
    <a:fontScheme name="Course Training Skills">
      <a:majorFont>
        <a:latin typeface="Cair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 Arab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— Session 1: What Is Machine Learning?</dc:title>
  <dc:subject>PptxGenJS Presentation</dc:subject>
  <dc:creator>Course Training Skills</dc:creator>
  <cp:lastModifiedBy>Course Training Skills</cp:lastModifiedBy>
  <cp:revision>1</cp:revision>
  <dcterms:created xsi:type="dcterms:W3CDTF">2026-10-26T11:22:59Z</dcterms:created>
  <dcterms:modified xsi:type="dcterms:W3CDTF">2026-10-26T11:22:59Z</dcterms:modified>
</cp:coreProperties>
</file>